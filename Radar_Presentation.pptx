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8" r:id="rId6"/>
    <p:sldId id="260" r:id="rId7"/>
    <p:sldId id="298" r:id="rId8"/>
    <p:sldId id="304" r:id="rId9"/>
    <p:sldId id="305" r:id="rId10"/>
    <p:sldId id="306" r:id="rId11"/>
    <p:sldId id="307" r:id="rId12"/>
    <p:sldId id="303" r:id="rId13"/>
    <p:sldId id="308" r:id="rId14"/>
    <p:sldId id="309" r:id="rId15"/>
    <p:sldId id="313" r:id="rId16"/>
    <p:sldId id="310" r:id="rId17"/>
    <p:sldId id="311" r:id="rId18"/>
    <p:sldId id="312" r:id="rId19"/>
    <p:sldId id="301" r:id="rId20"/>
    <p:sldId id="261" r:id="rId21"/>
    <p:sldId id="262" r:id="rId22"/>
    <p:sldId id="263" r:id="rId23"/>
    <p:sldId id="264" r:id="rId24"/>
  </p:sldIdLst>
  <p:sldSz cx="9144000" cy="5143500" type="screen16x9"/>
  <p:notesSz cx="6858000" cy="9144000"/>
  <p:embeddedFontLst>
    <p:embeddedFont>
      <p:font typeface="Anaheim" panose="020B0604020202020204" charset="0"/>
      <p:regular r:id="rId27"/>
      <p:bold r:id="rId28"/>
    </p:embeddedFont>
    <p:embeddedFont>
      <p:font typeface="Bahnschrift SemiBold" panose="020B0502040204020203" pitchFamily="34" charset="0"/>
      <p:bold r:id="rId29"/>
    </p:embeddedFont>
    <p:embeddedFont>
      <p:font typeface="Barlow" panose="00000500000000000000" pitchFamily="2" charset="0"/>
      <p:regular r:id="rId30"/>
      <p:bold r:id="rId31"/>
      <p:italic r:id="rId32"/>
      <p:boldItalic r:id="rId33"/>
    </p:embeddedFont>
    <p:embeddedFont>
      <p:font typeface="Bebas Neue" panose="020B0606020202050201" pitchFamily="34" charset="0"/>
      <p:regular r:id="rId34"/>
    </p:embeddedFont>
    <p:embeddedFont>
      <p:font typeface="Nunito Light" pitchFamily="2" charset="0"/>
      <p:regular r:id="rId35"/>
      <p:italic r:id="rId36"/>
    </p:embeddedFont>
    <p:embeddedFont>
      <p:font typeface="Oswald" panose="00000500000000000000" pitchFamily="2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D5BB16-BABB-431E-8746-BE0A81333CCD}" v="152" dt="2025-11-26T17:48:43.926"/>
    <p1510:client id="{314DC721-9E65-42A1-B191-53C46EE5F3C4}" v="747" dt="2025-11-26T16:17:42.006"/>
    <p1510:client id="{F9F4AE3E-02CC-43A7-8020-54CBBD2B59A4}" v="820" dt="2025-12-04T00:30:42.648"/>
  </p1510:revLst>
</p1510:revInfo>
</file>

<file path=ppt/tableStyles.xml><?xml version="1.0" encoding="utf-8"?>
<a:tblStyleLst xmlns:a="http://schemas.openxmlformats.org/drawingml/2006/main" def="{627C9375-8E05-4F5B-8091-2306CD2534D0}">
  <a:tblStyle styleId="{627C9375-8E05-4F5B-8091-2306CD2534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020C5E-BBA8-4EB0-83C7-9863FB1FE4F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67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F109E0-53A5-32E0-E148-1CD4D26184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E3605D-026D-E41F-A713-9D38997B55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89C4C-6DB5-4299-B808-4D37FFF28B9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D31AC-5D08-EF4B-B8EA-EB887761D3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68202-4826-572C-11E7-8ADAF58C39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8F8A92-AC1E-43F0-ABD2-5E24BA20A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50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b6604686b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b6604686b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4291CDF2-CCBD-6844-E6CF-DC8D22C13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>
            <a:extLst>
              <a:ext uri="{FF2B5EF4-FFF2-40B4-BE49-F238E27FC236}">
                <a16:creationId xmlns:a16="http://schemas.microsoft.com/office/drawing/2014/main" id="{B065C4D9-68C1-0FBA-A538-00188141B2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>
            <a:extLst>
              <a:ext uri="{FF2B5EF4-FFF2-40B4-BE49-F238E27FC236}">
                <a16:creationId xmlns:a16="http://schemas.microsoft.com/office/drawing/2014/main" id="{083FCAB2-983D-21BA-C27A-CC198D7A83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355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E9227EBD-B118-6348-380C-E4655CE9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>
            <a:extLst>
              <a:ext uri="{FF2B5EF4-FFF2-40B4-BE49-F238E27FC236}">
                <a16:creationId xmlns:a16="http://schemas.microsoft.com/office/drawing/2014/main" id="{832CB578-9D08-1B34-5064-C6BDA4C58B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>
            <a:extLst>
              <a:ext uri="{FF2B5EF4-FFF2-40B4-BE49-F238E27FC236}">
                <a16:creationId xmlns:a16="http://schemas.microsoft.com/office/drawing/2014/main" id="{7E0E205E-03B2-89F9-8343-643614FC87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0946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49E8C4B2-3D27-C5B9-08A9-3FBC1597E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>
            <a:extLst>
              <a:ext uri="{FF2B5EF4-FFF2-40B4-BE49-F238E27FC236}">
                <a16:creationId xmlns:a16="http://schemas.microsoft.com/office/drawing/2014/main" id="{1E6C666F-A19F-830B-0D40-CA8F2EE50C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>
            <a:extLst>
              <a:ext uri="{FF2B5EF4-FFF2-40B4-BE49-F238E27FC236}">
                <a16:creationId xmlns:a16="http://schemas.microsoft.com/office/drawing/2014/main" id="{EC4E0F4B-CB59-76BC-5662-A4E40F8DB5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1267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07C875D5-A87D-C6FC-E726-78850D830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>
            <a:extLst>
              <a:ext uri="{FF2B5EF4-FFF2-40B4-BE49-F238E27FC236}">
                <a16:creationId xmlns:a16="http://schemas.microsoft.com/office/drawing/2014/main" id="{C66C5E9A-F195-9E9D-BBD5-0A8EB1A6EB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>
            <a:extLst>
              <a:ext uri="{FF2B5EF4-FFF2-40B4-BE49-F238E27FC236}">
                <a16:creationId xmlns:a16="http://schemas.microsoft.com/office/drawing/2014/main" id="{B56189EE-84A7-92B1-830B-DF871D909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5326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9F2E117-8AE6-67FA-2A95-63E0E130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>
            <a:extLst>
              <a:ext uri="{FF2B5EF4-FFF2-40B4-BE49-F238E27FC236}">
                <a16:creationId xmlns:a16="http://schemas.microsoft.com/office/drawing/2014/main" id="{62149F21-BC11-184C-C021-A7FFCFE08F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>
            <a:extLst>
              <a:ext uri="{FF2B5EF4-FFF2-40B4-BE49-F238E27FC236}">
                <a16:creationId xmlns:a16="http://schemas.microsoft.com/office/drawing/2014/main" id="{D03C79EE-53CD-2349-E161-02035BA01D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7557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D5F58230-7E98-63AA-E7DE-5054394A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>
            <a:extLst>
              <a:ext uri="{FF2B5EF4-FFF2-40B4-BE49-F238E27FC236}">
                <a16:creationId xmlns:a16="http://schemas.microsoft.com/office/drawing/2014/main" id="{DADF5D69-2B47-823E-55EA-D654DEF74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>
            <a:extLst>
              <a:ext uri="{FF2B5EF4-FFF2-40B4-BE49-F238E27FC236}">
                <a16:creationId xmlns:a16="http://schemas.microsoft.com/office/drawing/2014/main" id="{0122B04B-A95C-5E7C-3B2B-77204C8874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8061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5E6FCDFA-D877-3009-AC41-E8DD8302E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>
            <a:extLst>
              <a:ext uri="{FF2B5EF4-FFF2-40B4-BE49-F238E27FC236}">
                <a16:creationId xmlns:a16="http://schemas.microsoft.com/office/drawing/2014/main" id="{9B57EA93-D299-03F8-2C50-7A4862386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>
            <a:extLst>
              <a:ext uri="{FF2B5EF4-FFF2-40B4-BE49-F238E27FC236}">
                <a16:creationId xmlns:a16="http://schemas.microsoft.com/office/drawing/2014/main" id="{1517D0AB-E777-CC2C-37DE-953FFFE7AC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3190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6B42D237-A8F2-2895-F4E6-30D2E8CB8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>
            <a:extLst>
              <a:ext uri="{FF2B5EF4-FFF2-40B4-BE49-F238E27FC236}">
                <a16:creationId xmlns:a16="http://schemas.microsoft.com/office/drawing/2014/main" id="{291EDB1B-8E28-482E-10A0-A53170B8D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>
            <a:extLst>
              <a:ext uri="{FF2B5EF4-FFF2-40B4-BE49-F238E27FC236}">
                <a16:creationId xmlns:a16="http://schemas.microsoft.com/office/drawing/2014/main" id="{EEF1536F-E9C3-7949-077C-46ECC06AD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55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AE2CFACC-0076-2539-22D5-3B8B5B440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>
            <a:extLst>
              <a:ext uri="{FF2B5EF4-FFF2-40B4-BE49-F238E27FC236}">
                <a16:creationId xmlns:a16="http://schemas.microsoft.com/office/drawing/2014/main" id="{FFA7C9D2-2257-BB8E-C00E-D8C5B69B81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>
            <a:extLst>
              <a:ext uri="{FF2B5EF4-FFF2-40B4-BE49-F238E27FC236}">
                <a16:creationId xmlns:a16="http://schemas.microsoft.com/office/drawing/2014/main" id="{41A9482A-BEF0-F089-7E0F-7641F452F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3912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5DFF9566-BAA9-0219-4036-8C0923FF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>
            <a:extLst>
              <a:ext uri="{FF2B5EF4-FFF2-40B4-BE49-F238E27FC236}">
                <a16:creationId xmlns:a16="http://schemas.microsoft.com/office/drawing/2014/main" id="{75B55217-7675-6795-468F-428FCBD9D7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>
            <a:extLst>
              <a:ext uri="{FF2B5EF4-FFF2-40B4-BE49-F238E27FC236}">
                <a16:creationId xmlns:a16="http://schemas.microsoft.com/office/drawing/2014/main" id="{C7FD9F8C-94C3-4FF2-61B8-2FA498FBE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687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41958A81-8C50-C3FA-6636-6E64C207F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>
            <a:extLst>
              <a:ext uri="{FF2B5EF4-FFF2-40B4-BE49-F238E27FC236}">
                <a16:creationId xmlns:a16="http://schemas.microsoft.com/office/drawing/2014/main" id="{E27A5D5C-58CF-13EC-6D78-34374D4D6E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>
            <a:extLst>
              <a:ext uri="{FF2B5EF4-FFF2-40B4-BE49-F238E27FC236}">
                <a16:creationId xmlns:a16="http://schemas.microsoft.com/office/drawing/2014/main" id="{6B841D5D-084F-B54F-CAB9-331D28A09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/>
              <a:t>Combining satellite data (IR + PMW) with ground radar data to produce better rainfall estimates than any single source can give.</a:t>
            </a:r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r>
              <a:rPr lang="en-US" b="1"/>
              <a:t>Super Simple Analogy</a:t>
            </a:r>
          </a:p>
          <a:p>
            <a:r>
              <a:rPr lang="en-US"/>
              <a:t>Imagine trying to estimate rainfall by:</a:t>
            </a:r>
          </a:p>
          <a:p>
            <a:r>
              <a:rPr lang="en-US"/>
              <a:t>Looking at the clouds (IR)</a:t>
            </a:r>
          </a:p>
          <a:p>
            <a:r>
              <a:rPr lang="en-US"/>
              <a:t>Checking humidity + raindrop signatures (PMW)</a:t>
            </a:r>
          </a:p>
          <a:p>
            <a:r>
              <a:rPr lang="en-US"/>
              <a:t>Asking a friend who is standing outside with an umbrella (Radar)</a:t>
            </a:r>
          </a:p>
          <a:p>
            <a:r>
              <a:rPr lang="en-US"/>
              <a:t>During training:</a:t>
            </a:r>
          </a:p>
          <a:p>
            <a:r>
              <a:rPr lang="en-US"/>
              <a:t>Radar = expert friend</a:t>
            </a:r>
          </a:p>
          <a:p>
            <a:r>
              <a:rPr lang="en-US"/>
              <a:t>IR + PMW = students</a:t>
            </a:r>
          </a:p>
          <a:p>
            <a:r>
              <a:rPr lang="en-US"/>
              <a:t>ML = the classroom</a:t>
            </a:r>
          </a:p>
          <a:p>
            <a:r>
              <a:rPr lang="en-US"/>
              <a:t>After learning:</a:t>
            </a:r>
          </a:p>
          <a:p>
            <a:r>
              <a:rPr lang="en-US"/>
              <a:t>Even without your friend (radar), the student (ML model) can now guess rainfall very accurately.</a:t>
            </a:r>
          </a:p>
          <a:p>
            <a:r>
              <a:rPr lang="en-US" b="1"/>
              <a:t>That’s data fusion.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047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033AD212-185E-1513-3A97-7B35214B7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>
            <a:extLst>
              <a:ext uri="{FF2B5EF4-FFF2-40B4-BE49-F238E27FC236}">
                <a16:creationId xmlns:a16="http://schemas.microsoft.com/office/drawing/2014/main" id="{5F3C1736-3279-44D9-0A0C-22DFBC9D41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>
            <a:extLst>
              <a:ext uri="{FF2B5EF4-FFF2-40B4-BE49-F238E27FC236}">
                <a16:creationId xmlns:a16="http://schemas.microsoft.com/office/drawing/2014/main" id="{71C43766-4F53-237D-3579-DF7D9EE753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09713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5610C308-C5D4-D2E4-55B7-AF761908D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>
            <a:extLst>
              <a:ext uri="{FF2B5EF4-FFF2-40B4-BE49-F238E27FC236}">
                <a16:creationId xmlns:a16="http://schemas.microsoft.com/office/drawing/2014/main" id="{2D0ADA72-4755-FA03-BC75-E8A0343FEE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>
            <a:extLst>
              <a:ext uri="{FF2B5EF4-FFF2-40B4-BE49-F238E27FC236}">
                <a16:creationId xmlns:a16="http://schemas.microsoft.com/office/drawing/2014/main" id="{7122037E-A525-FB99-10E4-2CD5058535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514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0f489d19d9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0f489d19d9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910c9cffe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910c9cffe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910c9cffe2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910c9cffe2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910c9cffe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910c9cffe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28425" y="898763"/>
            <a:ext cx="7402200" cy="205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028425" y="3536138"/>
            <a:ext cx="2499000" cy="708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899050" y="2882175"/>
            <a:ext cx="5338800" cy="11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899050" y="1368983"/>
            <a:ext cx="1456200" cy="136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7094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 hasCustomPrompt="1"/>
          </p:nvPr>
        </p:nvSpPr>
        <p:spPr>
          <a:xfrm>
            <a:off x="3419277" y="17094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7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5" hasCustomPrompt="1"/>
          </p:nvPr>
        </p:nvSpPr>
        <p:spPr>
          <a:xfrm>
            <a:off x="6118552" y="17094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2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720000" y="22688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7"/>
          </p:nvPr>
        </p:nvSpPr>
        <p:spPr>
          <a:xfrm>
            <a:off x="3419275" y="22688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6118550" y="22688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9"/>
          </p:nvPr>
        </p:nvSpPr>
        <p:spPr>
          <a:xfrm>
            <a:off x="720000" y="36261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3"/>
          </p:nvPr>
        </p:nvSpPr>
        <p:spPr>
          <a:xfrm>
            <a:off x="3419275" y="36261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4"/>
          </p:nvPr>
        </p:nvSpPr>
        <p:spPr>
          <a:xfrm>
            <a:off x="6118550" y="36261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5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 and text 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772920" y="3226501"/>
            <a:ext cx="4108200" cy="6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1"/>
          </p:nvPr>
        </p:nvSpPr>
        <p:spPr>
          <a:xfrm>
            <a:off x="772908" y="3855300"/>
            <a:ext cx="41082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>
            <a:spLocks noGrp="1"/>
          </p:cNvSpPr>
          <p:nvPr>
            <p:ph type="pic" idx="2"/>
          </p:nvPr>
        </p:nvSpPr>
        <p:spPr>
          <a:xfrm>
            <a:off x="5516676" y="659250"/>
            <a:ext cx="2749500" cy="3825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5619763" y="1428375"/>
            <a:ext cx="22146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5619763" y="2688225"/>
            <a:ext cx="2214600" cy="10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>
            <a:spLocks noGrp="1"/>
          </p:cNvSpPr>
          <p:nvPr>
            <p:ph type="pic" idx="2"/>
          </p:nvPr>
        </p:nvSpPr>
        <p:spPr>
          <a:xfrm>
            <a:off x="838200" y="659250"/>
            <a:ext cx="1982400" cy="3825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Google Shape;75;p15"/>
          <p:cNvSpPr>
            <a:spLocks noGrp="1"/>
          </p:cNvSpPr>
          <p:nvPr>
            <p:ph type="pic" idx="3"/>
          </p:nvPr>
        </p:nvSpPr>
        <p:spPr>
          <a:xfrm>
            <a:off x="2949268" y="662103"/>
            <a:ext cx="1942800" cy="1843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Google Shape;76;p15"/>
          <p:cNvSpPr>
            <a:spLocks noGrp="1"/>
          </p:cNvSpPr>
          <p:nvPr>
            <p:ph type="pic" idx="4"/>
          </p:nvPr>
        </p:nvSpPr>
        <p:spPr>
          <a:xfrm>
            <a:off x="2949268" y="2637533"/>
            <a:ext cx="1942800" cy="1843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713250" y="1216375"/>
            <a:ext cx="4111800" cy="33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739910" y="2210113"/>
            <a:ext cx="17682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●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○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■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●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○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■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●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○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12121"/>
              </a:buClr>
              <a:buSzPts val="1200"/>
              <a:buFont typeface="Barlow"/>
              <a:buChar char="■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74" r:id="rId3"/>
    <p:sldLayoutId id="2147483654" r:id="rId4"/>
    <p:sldLayoutId id="2147483655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8" r:id="rId11"/>
    <p:sldLayoutId id="214748366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6"/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 t="7410" b="7410"/>
          <a:stretch/>
        </p:blipFill>
        <p:spPr>
          <a:xfrm>
            <a:off x="-13275" y="-4778"/>
            <a:ext cx="9211802" cy="522989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968B3C-5EE3-6D90-9C61-8C61D3890BAD}"/>
              </a:ext>
            </a:extLst>
          </p:cNvPr>
          <p:cNvSpPr/>
          <p:nvPr/>
        </p:nvSpPr>
        <p:spPr>
          <a:xfrm>
            <a:off x="446047" y="779050"/>
            <a:ext cx="6300000" cy="108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Google Shape;143;p27"/>
          <p:cNvSpPr txBox="1">
            <a:spLocks noGrp="1"/>
          </p:cNvSpPr>
          <p:nvPr>
            <p:ph type="ctrTitle"/>
          </p:nvPr>
        </p:nvSpPr>
        <p:spPr>
          <a:xfrm>
            <a:off x="1028806" y="768164"/>
            <a:ext cx="5134482" cy="9374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bg1"/>
                </a:solidFill>
              </a:rPr>
              <a:t>Article Review</a:t>
            </a:r>
            <a:endParaRPr lang="en-US" sz="4800" b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EC3269-424C-20F5-4031-AF4D3AD69E4D}"/>
              </a:ext>
            </a:extLst>
          </p:cNvPr>
          <p:cNvSpPr/>
          <p:nvPr/>
        </p:nvSpPr>
        <p:spPr>
          <a:xfrm>
            <a:off x="1422000" y="2031750"/>
            <a:ext cx="6300000" cy="10800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AEFBBD-B95D-7E0C-EE77-2A73B33FC7F0}"/>
              </a:ext>
            </a:extLst>
          </p:cNvPr>
          <p:cNvSpPr/>
          <p:nvPr/>
        </p:nvSpPr>
        <p:spPr>
          <a:xfrm>
            <a:off x="2395569" y="3326194"/>
            <a:ext cx="6300000" cy="108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143;p27">
            <a:extLst>
              <a:ext uri="{FF2B5EF4-FFF2-40B4-BE49-F238E27FC236}">
                <a16:creationId xmlns:a16="http://schemas.microsoft.com/office/drawing/2014/main" id="{1AFD4BD1-F067-2C9E-914A-95FA6F4A800C}"/>
              </a:ext>
            </a:extLst>
          </p:cNvPr>
          <p:cNvSpPr txBox="1">
            <a:spLocks/>
          </p:cNvSpPr>
          <p:nvPr/>
        </p:nvSpPr>
        <p:spPr>
          <a:xfrm>
            <a:off x="1579756" y="2145068"/>
            <a:ext cx="5984488" cy="104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6500" b="1" i="0" u="none" strike="noStrike" cap="none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sz="2400">
                <a:solidFill>
                  <a:schemeClr val="bg1"/>
                </a:solidFill>
              </a:rPr>
              <a:t>A Machine Learning System for Precipitation Estimation Using Satellite and Ground Radar Network Observations</a:t>
            </a:r>
            <a:endParaRPr lang="en-US" sz="1400" b="0">
              <a:solidFill>
                <a:schemeClr val="bg1"/>
              </a:solidFill>
            </a:endParaRPr>
          </a:p>
        </p:txBody>
      </p:sp>
      <p:sp>
        <p:nvSpPr>
          <p:cNvPr id="10" name="Google Shape;143;p27">
            <a:extLst>
              <a:ext uri="{FF2B5EF4-FFF2-40B4-BE49-F238E27FC236}">
                <a16:creationId xmlns:a16="http://schemas.microsoft.com/office/drawing/2014/main" id="{BA5D41EE-0991-03A6-83D7-F15E0C8EB0D0}"/>
              </a:ext>
            </a:extLst>
          </p:cNvPr>
          <p:cNvSpPr txBox="1">
            <a:spLocks/>
          </p:cNvSpPr>
          <p:nvPr/>
        </p:nvSpPr>
        <p:spPr>
          <a:xfrm>
            <a:off x="2553325" y="3290562"/>
            <a:ext cx="5984488" cy="104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6500" b="1" i="0" u="none" strike="noStrike" cap="none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swald"/>
              <a:buNone/>
              <a:defRPr sz="5200" b="1" i="0" u="none" strike="noStrike" cap="none">
                <a:solidFill>
                  <a:srgbClr val="19191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sz="2400">
                <a:solidFill>
                  <a:schemeClr val="bg1"/>
                </a:solidFill>
              </a:rPr>
              <a:t>Oscar Ramirez Moguel, Rafsan Al Amin, and Sepehr </a:t>
            </a:r>
            <a:r>
              <a:rPr lang="en-US" sz="2400" err="1">
                <a:solidFill>
                  <a:schemeClr val="bg1"/>
                </a:solidFill>
              </a:rPr>
              <a:t>Fekri</a:t>
            </a:r>
            <a:endParaRPr lang="en-US" sz="1400" b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title" idx="15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title"/>
          </p:nvPr>
        </p:nvSpPr>
        <p:spPr>
          <a:xfrm>
            <a:off x="720000" y="17094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title" idx="2"/>
          </p:nvPr>
        </p:nvSpPr>
        <p:spPr>
          <a:xfrm>
            <a:off x="720000" y="30666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title" idx="3"/>
          </p:nvPr>
        </p:nvSpPr>
        <p:spPr>
          <a:xfrm>
            <a:off x="3419277" y="17094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title" idx="4"/>
          </p:nvPr>
        </p:nvSpPr>
        <p:spPr>
          <a:xfrm>
            <a:off x="3419277" y="30666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69" name="Google Shape;169;p29"/>
          <p:cNvSpPr txBox="1">
            <a:spLocks noGrp="1"/>
          </p:cNvSpPr>
          <p:nvPr>
            <p:ph type="title" idx="5"/>
          </p:nvPr>
        </p:nvSpPr>
        <p:spPr>
          <a:xfrm>
            <a:off x="6118552" y="17094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subTitle" idx="1"/>
          </p:nvPr>
        </p:nvSpPr>
        <p:spPr>
          <a:xfrm>
            <a:off x="720000" y="22688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Introduction</a:t>
            </a:r>
          </a:p>
        </p:txBody>
      </p:sp>
      <p:sp>
        <p:nvSpPr>
          <p:cNvPr id="172" name="Google Shape;172;p29"/>
          <p:cNvSpPr txBox="1">
            <a:spLocks noGrp="1"/>
          </p:cNvSpPr>
          <p:nvPr>
            <p:ph type="subTitle" idx="7"/>
          </p:nvPr>
        </p:nvSpPr>
        <p:spPr>
          <a:xfrm>
            <a:off x="3419275" y="22688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Methodology</a:t>
            </a:r>
          </a:p>
        </p:txBody>
      </p:sp>
      <p:sp>
        <p:nvSpPr>
          <p:cNvPr id="173" name="Google Shape;173;p29"/>
          <p:cNvSpPr txBox="1">
            <a:spLocks noGrp="1"/>
          </p:cNvSpPr>
          <p:nvPr>
            <p:ph type="subTitle" idx="8"/>
          </p:nvPr>
        </p:nvSpPr>
        <p:spPr>
          <a:xfrm>
            <a:off x="6118550" y="22688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/>
              <a:t>Results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subTitle" idx="9"/>
          </p:nvPr>
        </p:nvSpPr>
        <p:spPr>
          <a:xfrm>
            <a:off x="720000" y="36261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Discussion</a:t>
            </a:r>
          </a:p>
        </p:txBody>
      </p:sp>
      <p:sp>
        <p:nvSpPr>
          <p:cNvPr id="175" name="Google Shape;175;p29"/>
          <p:cNvSpPr txBox="1">
            <a:spLocks noGrp="1"/>
          </p:cNvSpPr>
          <p:nvPr>
            <p:ph type="subTitle" idx="13"/>
          </p:nvPr>
        </p:nvSpPr>
        <p:spPr>
          <a:xfrm>
            <a:off x="3419275" y="36261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F3C76C-D0E4-174C-17AA-137DD6DA5065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1"/>
          <p:cNvGrpSpPr/>
          <p:nvPr/>
        </p:nvGrpSpPr>
        <p:grpSpPr>
          <a:xfrm>
            <a:off x="6347465" y="1403176"/>
            <a:ext cx="1250400" cy="1250400"/>
            <a:chOff x="6423665" y="1479376"/>
            <a:chExt cx="1250400" cy="1250400"/>
          </a:xfrm>
        </p:grpSpPr>
        <p:sp>
          <p:nvSpPr>
            <p:cNvPr id="206" name="Google Shape;206;p31"/>
            <p:cNvSpPr/>
            <p:nvPr/>
          </p:nvSpPr>
          <p:spPr>
            <a:xfrm>
              <a:off x="6423665" y="1479376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1"/>
            <p:cNvSpPr/>
            <p:nvPr/>
          </p:nvSpPr>
          <p:spPr>
            <a:xfrm>
              <a:off x="6690463" y="1750275"/>
              <a:ext cx="716837" cy="708596"/>
            </a:xfrm>
            <a:custGeom>
              <a:avLst/>
              <a:gdLst/>
              <a:ahLst/>
              <a:cxnLst/>
              <a:rect l="l" t="t" r="r" b="b"/>
              <a:pathLst>
                <a:path w="14787" h="14617" extrusionOk="0">
                  <a:moveTo>
                    <a:pt x="7393" y="951"/>
                  </a:moveTo>
                  <a:cubicBezTo>
                    <a:pt x="9294" y="951"/>
                    <a:pt x="10894" y="2373"/>
                    <a:pt x="11117" y="4257"/>
                  </a:cubicBezTo>
                  <a:lnTo>
                    <a:pt x="11167" y="4677"/>
                  </a:lnTo>
                  <a:lnTo>
                    <a:pt x="11589" y="4677"/>
                  </a:lnTo>
                  <a:cubicBezTo>
                    <a:pt x="12827" y="4677"/>
                    <a:pt x="13834" y="5684"/>
                    <a:pt x="13834" y="6921"/>
                  </a:cubicBezTo>
                  <a:cubicBezTo>
                    <a:pt x="13834" y="8158"/>
                    <a:pt x="12827" y="9166"/>
                    <a:pt x="11591" y="9166"/>
                  </a:cubicBezTo>
                  <a:lnTo>
                    <a:pt x="3197" y="9166"/>
                  </a:lnTo>
                  <a:cubicBezTo>
                    <a:pt x="1959" y="9166"/>
                    <a:pt x="952" y="8158"/>
                    <a:pt x="952" y="6921"/>
                  </a:cubicBezTo>
                  <a:cubicBezTo>
                    <a:pt x="952" y="5684"/>
                    <a:pt x="1959" y="4677"/>
                    <a:pt x="3197" y="4677"/>
                  </a:cubicBezTo>
                  <a:lnTo>
                    <a:pt x="3620" y="4677"/>
                  </a:lnTo>
                  <a:lnTo>
                    <a:pt x="3669" y="4257"/>
                  </a:lnTo>
                  <a:cubicBezTo>
                    <a:pt x="3892" y="2373"/>
                    <a:pt x="5492" y="951"/>
                    <a:pt x="7393" y="951"/>
                  </a:cubicBezTo>
                  <a:close/>
                  <a:moveTo>
                    <a:pt x="7393" y="0"/>
                  </a:moveTo>
                  <a:cubicBezTo>
                    <a:pt x="5145" y="0"/>
                    <a:pt x="3232" y="1587"/>
                    <a:pt x="2788" y="3752"/>
                  </a:cubicBezTo>
                  <a:cubicBezTo>
                    <a:pt x="1217" y="3953"/>
                    <a:pt x="1" y="5297"/>
                    <a:pt x="1" y="6922"/>
                  </a:cubicBezTo>
                  <a:cubicBezTo>
                    <a:pt x="1" y="8683"/>
                    <a:pt x="1434" y="10118"/>
                    <a:pt x="3197" y="10118"/>
                  </a:cubicBezTo>
                  <a:lnTo>
                    <a:pt x="4922" y="10118"/>
                  </a:lnTo>
                  <a:lnTo>
                    <a:pt x="4922" y="11608"/>
                  </a:lnTo>
                  <a:lnTo>
                    <a:pt x="3663" y="11608"/>
                  </a:lnTo>
                  <a:lnTo>
                    <a:pt x="3663" y="14616"/>
                  </a:lnTo>
                  <a:lnTo>
                    <a:pt x="4614" y="14616"/>
                  </a:lnTo>
                  <a:lnTo>
                    <a:pt x="4614" y="12561"/>
                  </a:lnTo>
                  <a:lnTo>
                    <a:pt x="5873" y="12561"/>
                  </a:lnTo>
                  <a:lnTo>
                    <a:pt x="5873" y="10118"/>
                  </a:lnTo>
                  <a:lnTo>
                    <a:pt x="8651" y="10118"/>
                  </a:lnTo>
                  <a:lnTo>
                    <a:pt x="8651" y="11608"/>
                  </a:lnTo>
                  <a:lnTo>
                    <a:pt x="7393" y="11608"/>
                  </a:lnTo>
                  <a:lnTo>
                    <a:pt x="7393" y="14616"/>
                  </a:lnTo>
                  <a:lnTo>
                    <a:pt x="8344" y="14616"/>
                  </a:lnTo>
                  <a:lnTo>
                    <a:pt x="8344" y="12561"/>
                  </a:lnTo>
                  <a:lnTo>
                    <a:pt x="9603" y="12561"/>
                  </a:lnTo>
                  <a:lnTo>
                    <a:pt x="9603" y="10118"/>
                  </a:lnTo>
                  <a:lnTo>
                    <a:pt x="11591" y="10118"/>
                  </a:lnTo>
                  <a:cubicBezTo>
                    <a:pt x="13353" y="10118"/>
                    <a:pt x="14787" y="8683"/>
                    <a:pt x="14787" y="6922"/>
                  </a:cubicBezTo>
                  <a:cubicBezTo>
                    <a:pt x="14787" y="5297"/>
                    <a:pt x="13569" y="3953"/>
                    <a:pt x="11999" y="3752"/>
                  </a:cubicBezTo>
                  <a:cubicBezTo>
                    <a:pt x="11556" y="1587"/>
                    <a:pt x="9641" y="0"/>
                    <a:pt x="7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8" name="Google Shape;208;p31"/>
          <p:cNvSpPr txBox="1">
            <a:spLocks noGrp="1"/>
          </p:cNvSpPr>
          <p:nvPr>
            <p:ph type="title"/>
          </p:nvPr>
        </p:nvSpPr>
        <p:spPr>
          <a:xfrm>
            <a:off x="899050" y="2882175"/>
            <a:ext cx="5338800" cy="11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09" name="Google Shape;209;p31"/>
          <p:cNvSpPr txBox="1">
            <a:spLocks noGrp="1"/>
          </p:cNvSpPr>
          <p:nvPr>
            <p:ph type="title" idx="2"/>
          </p:nvPr>
        </p:nvSpPr>
        <p:spPr>
          <a:xfrm>
            <a:off x="899050" y="1368983"/>
            <a:ext cx="1456200" cy="13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10" name="Google Shape;210;p31"/>
          <p:cNvGrpSpPr/>
          <p:nvPr/>
        </p:nvGrpSpPr>
        <p:grpSpPr>
          <a:xfrm>
            <a:off x="7078515" y="609701"/>
            <a:ext cx="1250400" cy="1250400"/>
            <a:chOff x="7078515" y="609701"/>
            <a:chExt cx="1250400" cy="1250400"/>
          </a:xfrm>
        </p:grpSpPr>
        <p:sp>
          <p:nvSpPr>
            <p:cNvPr id="211" name="Google Shape;211;p31"/>
            <p:cNvSpPr/>
            <p:nvPr/>
          </p:nvSpPr>
          <p:spPr>
            <a:xfrm>
              <a:off x="7078515" y="609701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1"/>
            <p:cNvSpPr/>
            <p:nvPr/>
          </p:nvSpPr>
          <p:spPr>
            <a:xfrm>
              <a:off x="7385973" y="880600"/>
              <a:ext cx="635513" cy="708602"/>
            </a:xfrm>
            <a:custGeom>
              <a:avLst/>
              <a:gdLst/>
              <a:ahLst/>
              <a:cxnLst/>
              <a:rect l="l" t="t" r="r" b="b"/>
              <a:pathLst>
                <a:path w="13799" h="15386" extrusionOk="0">
                  <a:moveTo>
                    <a:pt x="6423" y="0"/>
                  </a:moveTo>
                  <a:lnTo>
                    <a:pt x="6423" y="1910"/>
                  </a:lnTo>
                  <a:lnTo>
                    <a:pt x="5402" y="887"/>
                  </a:lnTo>
                  <a:lnTo>
                    <a:pt x="4729" y="1561"/>
                  </a:lnTo>
                  <a:lnTo>
                    <a:pt x="6423" y="3255"/>
                  </a:lnTo>
                  <a:lnTo>
                    <a:pt x="6423" y="6869"/>
                  </a:lnTo>
                  <a:lnTo>
                    <a:pt x="3295" y="5062"/>
                  </a:lnTo>
                  <a:lnTo>
                    <a:pt x="2675" y="2747"/>
                  </a:lnTo>
                  <a:lnTo>
                    <a:pt x="1755" y="2993"/>
                  </a:lnTo>
                  <a:lnTo>
                    <a:pt x="2128" y="4389"/>
                  </a:lnTo>
                  <a:lnTo>
                    <a:pt x="475" y="3434"/>
                  </a:lnTo>
                  <a:lnTo>
                    <a:pt x="0" y="4258"/>
                  </a:lnTo>
                  <a:lnTo>
                    <a:pt x="1654" y="5212"/>
                  </a:lnTo>
                  <a:lnTo>
                    <a:pt x="258" y="5587"/>
                  </a:lnTo>
                  <a:lnTo>
                    <a:pt x="504" y="6506"/>
                  </a:lnTo>
                  <a:lnTo>
                    <a:pt x="2819" y="5886"/>
                  </a:lnTo>
                  <a:lnTo>
                    <a:pt x="5948" y="7693"/>
                  </a:lnTo>
                  <a:lnTo>
                    <a:pt x="2819" y="9499"/>
                  </a:lnTo>
                  <a:lnTo>
                    <a:pt x="504" y="8879"/>
                  </a:lnTo>
                  <a:lnTo>
                    <a:pt x="258" y="9798"/>
                  </a:lnTo>
                  <a:lnTo>
                    <a:pt x="1654" y="10171"/>
                  </a:lnTo>
                  <a:lnTo>
                    <a:pt x="0" y="11127"/>
                  </a:lnTo>
                  <a:lnTo>
                    <a:pt x="475" y="11951"/>
                  </a:lnTo>
                  <a:lnTo>
                    <a:pt x="2128" y="10997"/>
                  </a:lnTo>
                  <a:lnTo>
                    <a:pt x="1755" y="12392"/>
                  </a:lnTo>
                  <a:lnTo>
                    <a:pt x="2675" y="12638"/>
                  </a:lnTo>
                  <a:lnTo>
                    <a:pt x="3295" y="10323"/>
                  </a:lnTo>
                  <a:lnTo>
                    <a:pt x="6423" y="8516"/>
                  </a:lnTo>
                  <a:lnTo>
                    <a:pt x="6423" y="12130"/>
                  </a:lnTo>
                  <a:lnTo>
                    <a:pt x="4729" y="13824"/>
                  </a:lnTo>
                  <a:lnTo>
                    <a:pt x="5402" y="14496"/>
                  </a:lnTo>
                  <a:lnTo>
                    <a:pt x="6423" y="13475"/>
                  </a:lnTo>
                  <a:lnTo>
                    <a:pt x="6423" y="15385"/>
                  </a:lnTo>
                  <a:lnTo>
                    <a:pt x="7376" y="15385"/>
                  </a:lnTo>
                  <a:lnTo>
                    <a:pt x="7376" y="13475"/>
                  </a:lnTo>
                  <a:lnTo>
                    <a:pt x="8397" y="14496"/>
                  </a:lnTo>
                  <a:lnTo>
                    <a:pt x="9070" y="13824"/>
                  </a:lnTo>
                  <a:lnTo>
                    <a:pt x="7376" y="12130"/>
                  </a:lnTo>
                  <a:lnTo>
                    <a:pt x="7376" y="8516"/>
                  </a:lnTo>
                  <a:lnTo>
                    <a:pt x="10504" y="10323"/>
                  </a:lnTo>
                  <a:lnTo>
                    <a:pt x="11124" y="12638"/>
                  </a:lnTo>
                  <a:lnTo>
                    <a:pt x="12044" y="12392"/>
                  </a:lnTo>
                  <a:lnTo>
                    <a:pt x="11669" y="10997"/>
                  </a:lnTo>
                  <a:lnTo>
                    <a:pt x="13322" y="11951"/>
                  </a:lnTo>
                  <a:lnTo>
                    <a:pt x="13799" y="11127"/>
                  </a:lnTo>
                  <a:lnTo>
                    <a:pt x="12145" y="10171"/>
                  </a:lnTo>
                  <a:lnTo>
                    <a:pt x="13541" y="9798"/>
                  </a:lnTo>
                  <a:lnTo>
                    <a:pt x="13294" y="8879"/>
                  </a:lnTo>
                  <a:lnTo>
                    <a:pt x="10980" y="9499"/>
                  </a:lnTo>
                  <a:lnTo>
                    <a:pt x="7851" y="7693"/>
                  </a:lnTo>
                  <a:lnTo>
                    <a:pt x="10980" y="5886"/>
                  </a:lnTo>
                  <a:lnTo>
                    <a:pt x="13294" y="6506"/>
                  </a:lnTo>
                  <a:lnTo>
                    <a:pt x="13541" y="5587"/>
                  </a:lnTo>
                  <a:lnTo>
                    <a:pt x="12145" y="5212"/>
                  </a:lnTo>
                  <a:lnTo>
                    <a:pt x="13799" y="4258"/>
                  </a:lnTo>
                  <a:lnTo>
                    <a:pt x="13322" y="3434"/>
                  </a:lnTo>
                  <a:lnTo>
                    <a:pt x="11669" y="4389"/>
                  </a:lnTo>
                  <a:lnTo>
                    <a:pt x="12044" y="2993"/>
                  </a:lnTo>
                  <a:lnTo>
                    <a:pt x="11124" y="2747"/>
                  </a:lnTo>
                  <a:lnTo>
                    <a:pt x="10504" y="5062"/>
                  </a:lnTo>
                  <a:lnTo>
                    <a:pt x="7376" y="6867"/>
                  </a:lnTo>
                  <a:lnTo>
                    <a:pt x="7376" y="3255"/>
                  </a:lnTo>
                  <a:lnTo>
                    <a:pt x="9070" y="1561"/>
                  </a:lnTo>
                  <a:lnTo>
                    <a:pt x="8397" y="887"/>
                  </a:lnTo>
                  <a:lnTo>
                    <a:pt x="7376" y="1910"/>
                  </a:lnTo>
                  <a:lnTo>
                    <a:pt x="7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E1DBA82-A2E8-FCB7-CBCA-4A42AA9D58A8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DC9C5F1B-4C0B-01B9-390B-1ED7A6EBF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08;p31">
            <a:extLst>
              <a:ext uri="{FF2B5EF4-FFF2-40B4-BE49-F238E27FC236}">
                <a16:creationId xmlns:a16="http://schemas.microsoft.com/office/drawing/2014/main" id="{901F90FC-60CE-5F82-09FF-4807046C5E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375" y="300376"/>
            <a:ext cx="4539717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Introduction</a:t>
            </a:r>
            <a:endParaRPr sz="360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9FDD20-668A-C1DC-C900-4997085D8922}"/>
              </a:ext>
            </a:extLst>
          </p:cNvPr>
          <p:cNvSpPr txBox="1"/>
          <p:nvPr/>
        </p:nvSpPr>
        <p:spPr>
          <a:xfrm>
            <a:off x="406826" y="1088250"/>
            <a:ext cx="39793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b="1"/>
              <a:t>Title: </a:t>
            </a:r>
            <a:r>
              <a:rPr lang="en-GB"/>
              <a:t>A Machine Learning System for Precipitation Estimation Using Satellite and Ground Radar Network Observations.</a:t>
            </a:r>
          </a:p>
          <a:p>
            <a:pPr algn="just"/>
            <a:endParaRPr lang="en-US"/>
          </a:p>
          <a:p>
            <a:pPr lvl="1" algn="just"/>
            <a:r>
              <a:rPr lang="en-GB" b="1"/>
              <a:t>Authored by: </a:t>
            </a:r>
            <a:r>
              <a:rPr lang="en-GB" err="1"/>
              <a:t>Haonan</a:t>
            </a:r>
            <a:r>
              <a:rPr lang="en-GB"/>
              <a:t> Chen, V. Chandrasekar, Robert Cifelli, and Pingping Xie.</a:t>
            </a:r>
          </a:p>
          <a:p>
            <a:pPr lvl="1" algn="just"/>
            <a:endParaRPr lang="en-GB"/>
          </a:p>
          <a:p>
            <a:pPr lvl="1" algn="just"/>
            <a:r>
              <a:rPr lang="en-GB" b="1"/>
              <a:t>Year of Publication: </a:t>
            </a:r>
            <a:r>
              <a:rPr lang="en-GB"/>
              <a:t>2019</a:t>
            </a:r>
          </a:p>
          <a:p>
            <a:pPr lvl="1" algn="just"/>
            <a:endParaRPr lang="en-GB"/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/>
              <a:t>Proposes a machine-learning-based data fusion system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/>
              <a:t>Combines satellite observations with ground radar measurements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/>
              <a:t>Aims to improve satellite-based precipitation estimates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DF161-C517-71C2-4F07-6BB1B376F427}"/>
              </a:ext>
            </a:extLst>
          </p:cNvPr>
          <p:cNvSpPr txBox="1"/>
          <p:nvPr/>
        </p:nvSpPr>
        <p:spPr>
          <a:xfrm>
            <a:off x="5179622" y="4357094"/>
            <a:ext cx="31009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>
                <a:solidFill>
                  <a:srgbClr val="002060"/>
                </a:solidFill>
              </a:rPr>
              <a:t>a) IR brightness temperatures b) PMW-based rainfall retrievals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D8FBD2-884D-F949-F8D2-F80C38496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356" y="384737"/>
            <a:ext cx="3030259" cy="396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420B97-C96B-D316-F6CD-C11BD495C5A7}"/>
              </a:ext>
            </a:extLst>
          </p:cNvPr>
          <p:cNvSpPr txBox="1"/>
          <p:nvPr/>
        </p:nvSpPr>
        <p:spPr>
          <a:xfrm>
            <a:off x="0" y="4889594"/>
            <a:ext cx="1295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>
                <a:solidFill>
                  <a:srgbClr val="002060"/>
                </a:solidFill>
              </a:rPr>
              <a:t>CHEN et al.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11AF69-BCC5-44AC-15A2-350020BA4AF8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257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E375B021-473B-B435-BF65-0B40F153A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08;p31">
            <a:extLst>
              <a:ext uri="{FF2B5EF4-FFF2-40B4-BE49-F238E27FC236}">
                <a16:creationId xmlns:a16="http://schemas.microsoft.com/office/drawing/2014/main" id="{CBD90D4D-DD23-C23F-AFA5-B4FDCCD5D8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3486" y="141422"/>
            <a:ext cx="4539717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Introduction</a:t>
            </a:r>
            <a:endParaRPr sz="360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2268CD-0098-F53D-61B9-AA3E527BC14F}"/>
              </a:ext>
            </a:extLst>
          </p:cNvPr>
          <p:cNvSpPr txBox="1"/>
          <p:nvPr/>
        </p:nvSpPr>
        <p:spPr>
          <a:xfrm>
            <a:off x="413479" y="906581"/>
            <a:ext cx="39793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b="1"/>
              <a:t>Why is it important to improve satellite-based precipitation estimates?</a:t>
            </a:r>
          </a:p>
          <a:p>
            <a:pPr algn="just"/>
            <a:endParaRPr lang="en-GB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/>
              <a:t>Precipitation plays a key role in understanding the water cycle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/>
              <a:t>It is a critical input for climate, hydrological, and weather forecast models</a:t>
            </a:r>
          </a:p>
          <a:p>
            <a:pPr lvl="1" algn="just"/>
            <a:endParaRPr lang="en-GB"/>
          </a:p>
          <a:p>
            <a:pPr lvl="1" algn="just"/>
            <a:r>
              <a:rPr lang="en-GB" b="1"/>
              <a:t>Methods of measuring precipitation</a:t>
            </a:r>
          </a:p>
          <a:p>
            <a:pPr lvl="1" algn="just"/>
            <a:endParaRPr lang="en-GB"/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/>
              <a:t>Conventional meteorological stations (rain gauges)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/>
              <a:t>Meteorological radars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/>
              <a:t>Satellites: geostationary infrared (IR) and passive microwave (PMW) measurements</a:t>
            </a:r>
          </a:p>
          <a:p>
            <a:pPr lvl="1" algn="just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39CBE0-5BE6-A409-FE06-E3FC25916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902" y="426769"/>
            <a:ext cx="2880000" cy="20043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0F90A3-5485-738B-09B5-CA4FB6549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658" y="1131750"/>
            <a:ext cx="1528389" cy="288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B3A3D8-9C61-45DD-41F6-C62B6EA4BE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902" y="2571750"/>
            <a:ext cx="2880000" cy="21449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C148B2-6FDA-FBFF-C030-120C7CCBDC2A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5181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B68EE215-E917-3666-A3E5-BC81C696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08;p31">
            <a:extLst>
              <a:ext uri="{FF2B5EF4-FFF2-40B4-BE49-F238E27FC236}">
                <a16:creationId xmlns:a16="http://schemas.microsoft.com/office/drawing/2014/main" id="{13521758-B413-1B37-8800-A4E97C9107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375" y="300376"/>
            <a:ext cx="4539717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Introduction</a:t>
            </a:r>
            <a:endParaRPr sz="360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6D6011-3EA5-C743-E1BB-4762C0A8B4A9}"/>
              </a:ext>
            </a:extLst>
          </p:cNvPr>
          <p:cNvSpPr txBox="1"/>
          <p:nvPr/>
        </p:nvSpPr>
        <p:spPr>
          <a:xfrm>
            <a:off x="341375" y="1254883"/>
            <a:ext cx="8317044" cy="338400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ctr"/>
            <a:r>
              <a:rPr lang="en-GB" b="1"/>
              <a:t>Weather Radar</a:t>
            </a:r>
          </a:p>
          <a:p>
            <a:pPr algn="just"/>
            <a:r>
              <a:rPr lang="en-GB" b="1"/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High-resolution area coverage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High temporal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Microphysics information (internal storm structure and raindrop size)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algn="just"/>
            <a:r>
              <a:rPr lang="en-GB" b="1"/>
              <a:t>Drawbacks: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/>
              <a:t>Limited spatial coverage.</a:t>
            </a:r>
          </a:p>
          <a:p>
            <a:pPr algn="just"/>
            <a:endParaRPr lang="en-GB"/>
          </a:p>
          <a:p>
            <a:pPr algn="just"/>
            <a:endParaRPr lang="en-GB"/>
          </a:p>
          <a:p>
            <a:pPr algn="just"/>
            <a:endParaRPr lang="en-GB"/>
          </a:p>
          <a:p>
            <a:pPr algn="just"/>
            <a:endParaRPr lang="en-GB"/>
          </a:p>
          <a:p>
            <a:pPr algn="just"/>
            <a:endParaRPr lang="en-GB"/>
          </a:p>
          <a:p>
            <a:pPr algn="just"/>
            <a:endParaRPr lang="en-GB"/>
          </a:p>
          <a:p>
            <a:pPr algn="ctr"/>
            <a:r>
              <a:rPr lang="en-GB" b="1"/>
              <a:t>Satellite</a:t>
            </a:r>
          </a:p>
          <a:p>
            <a:pPr algn="just"/>
            <a:r>
              <a:rPr lang="en-GB" b="1"/>
              <a:t>Advantages: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/>
              <a:t>Near-global coverage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/>
              <a:t>IR-based algorithms - adequate for convective rainfall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/>
              <a:t>PMW-based measurements – more physically based / more accurate</a:t>
            </a:r>
          </a:p>
          <a:p>
            <a:pPr lvl="1" algn="just"/>
            <a:endParaRPr lang="en-GB"/>
          </a:p>
          <a:p>
            <a:pPr algn="just"/>
            <a:r>
              <a:rPr lang="en-GB" b="1"/>
              <a:t>Drawbacks: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err="1"/>
              <a:t>Spatio</a:t>
            </a:r>
            <a:r>
              <a:rPr lang="en-GB"/>
              <a:t>-temporal sampling gaps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/>
              <a:t>IR-based algorithms are not adequate for stratiform/warm-top rainfall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/>
              <a:t>PMW-based measurements have low temporal resolution</a:t>
            </a:r>
          </a:p>
          <a:p>
            <a:pPr lvl="1" algn="just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E967F-16CC-C22E-3141-AEC39BB1F145}"/>
              </a:ext>
            </a:extLst>
          </p:cNvPr>
          <p:cNvSpPr txBox="1"/>
          <p:nvPr/>
        </p:nvSpPr>
        <p:spPr>
          <a:xfrm>
            <a:off x="413478" y="849882"/>
            <a:ext cx="8317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/>
              <a:t>Combination of weather radar data and satellite data for better precipitation estimates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0BDEA8-C4BF-0733-C19E-AA4E5CB83D7B}"/>
              </a:ext>
            </a:extLst>
          </p:cNvPr>
          <p:cNvSpPr txBox="1"/>
          <p:nvPr/>
        </p:nvSpPr>
        <p:spPr>
          <a:xfrm>
            <a:off x="8424000" y="4755972"/>
            <a:ext cx="43994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5</a:t>
            </a:r>
          </a:p>
          <a:p>
            <a:endParaRPr lang="en-US" sz="1050" i="1"/>
          </a:p>
        </p:txBody>
      </p:sp>
    </p:spTree>
    <p:extLst>
      <p:ext uri="{BB962C8B-B14F-4D97-AF65-F5344CB8AC3E}">
        <p14:creationId xmlns:p14="http://schemas.microsoft.com/office/powerpoint/2010/main" val="22433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FAB39546-1C78-47FC-B945-952DF820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08;p31">
            <a:extLst>
              <a:ext uri="{FF2B5EF4-FFF2-40B4-BE49-F238E27FC236}">
                <a16:creationId xmlns:a16="http://schemas.microsoft.com/office/drawing/2014/main" id="{267320BC-0B5E-421D-89FB-8D949062B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375" y="300376"/>
            <a:ext cx="4539717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Introduction</a:t>
            </a:r>
            <a:endParaRPr sz="360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26173E-49E1-9616-FD3A-97E1CDFB3B2B}"/>
              </a:ext>
            </a:extLst>
          </p:cNvPr>
          <p:cNvSpPr txBox="1"/>
          <p:nvPr/>
        </p:nvSpPr>
        <p:spPr>
          <a:xfrm>
            <a:off x="413478" y="995219"/>
            <a:ext cx="83170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b="1"/>
              <a:t>Objective:</a:t>
            </a:r>
          </a:p>
          <a:p>
            <a:pPr algn="just">
              <a:lnSpc>
                <a:spcPct val="150000"/>
              </a:lnSpc>
            </a:pPr>
            <a:r>
              <a:rPr lang="en-GB"/>
              <a:t>To introduce an innovative machine learning-based mechanism to improve spaceborne precipitation retrievals by incorporating dual-polarization measurements from a ground-based radar network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076E59-666D-784B-FDCD-A8ADF2522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473" y="1995149"/>
            <a:ext cx="4253229" cy="23321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F8CDF3-438D-0279-1460-3BEC67E02250}"/>
              </a:ext>
            </a:extLst>
          </p:cNvPr>
          <p:cNvSpPr txBox="1"/>
          <p:nvPr/>
        </p:nvSpPr>
        <p:spPr>
          <a:xfrm>
            <a:off x="413478" y="1897965"/>
            <a:ext cx="3874176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GB" b="1"/>
              <a:t>Key ideas: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Designing a machine learning system for satellite-based precipitation estimation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Using combined IR + PMW satellite data as inputs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Using ground-based dual polarization radar measurements as training targets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33764-C39A-3155-6A1B-00C91EDF3756}"/>
              </a:ext>
            </a:extLst>
          </p:cNvPr>
          <p:cNvSpPr txBox="1"/>
          <p:nvPr/>
        </p:nvSpPr>
        <p:spPr>
          <a:xfrm>
            <a:off x="0" y="4881890"/>
            <a:ext cx="1295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>
                <a:solidFill>
                  <a:srgbClr val="002060"/>
                </a:solidFill>
              </a:rPr>
              <a:t>CHEN et al.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B2303E-3C57-C600-5679-9E67E2CD6AC4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FC2911-E090-370A-3305-66FAE67A77E7}"/>
              </a:ext>
            </a:extLst>
          </p:cNvPr>
          <p:cNvSpPr txBox="1"/>
          <p:nvPr/>
        </p:nvSpPr>
        <p:spPr>
          <a:xfrm>
            <a:off x="6753699" y="440048"/>
            <a:ext cx="19768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/>
              <a:t>*IR = Infrared</a:t>
            </a:r>
          </a:p>
          <a:p>
            <a:r>
              <a:rPr lang="en-US" sz="1050"/>
              <a:t>*PMW = Passive Micro-Wave </a:t>
            </a:r>
          </a:p>
        </p:txBody>
      </p:sp>
    </p:spTree>
    <p:extLst>
      <p:ext uri="{BB962C8B-B14F-4D97-AF65-F5344CB8AC3E}">
        <p14:creationId xmlns:p14="http://schemas.microsoft.com/office/powerpoint/2010/main" val="1503658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F21DFBCE-07D6-4885-864D-E1571BF5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1">
            <a:extLst>
              <a:ext uri="{FF2B5EF4-FFF2-40B4-BE49-F238E27FC236}">
                <a16:creationId xmlns:a16="http://schemas.microsoft.com/office/drawing/2014/main" id="{B95D578F-8D5D-5997-F102-E79F0E893CDB}"/>
              </a:ext>
            </a:extLst>
          </p:cNvPr>
          <p:cNvGrpSpPr/>
          <p:nvPr/>
        </p:nvGrpSpPr>
        <p:grpSpPr>
          <a:xfrm>
            <a:off x="6347465" y="1403176"/>
            <a:ext cx="1250400" cy="1250400"/>
            <a:chOff x="6423665" y="1479376"/>
            <a:chExt cx="1250400" cy="1250400"/>
          </a:xfrm>
        </p:grpSpPr>
        <p:sp>
          <p:nvSpPr>
            <p:cNvPr id="206" name="Google Shape;206;p31">
              <a:extLst>
                <a:ext uri="{FF2B5EF4-FFF2-40B4-BE49-F238E27FC236}">
                  <a16:creationId xmlns:a16="http://schemas.microsoft.com/office/drawing/2014/main" id="{6EC15CBB-73C1-49B3-0105-8A643F60F30E}"/>
                </a:ext>
              </a:extLst>
            </p:cNvPr>
            <p:cNvSpPr/>
            <p:nvPr/>
          </p:nvSpPr>
          <p:spPr>
            <a:xfrm>
              <a:off x="6423665" y="1479376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1">
              <a:extLst>
                <a:ext uri="{FF2B5EF4-FFF2-40B4-BE49-F238E27FC236}">
                  <a16:creationId xmlns:a16="http://schemas.microsoft.com/office/drawing/2014/main" id="{9C31357C-F4A0-710B-E662-389F98FEF124}"/>
                </a:ext>
              </a:extLst>
            </p:cNvPr>
            <p:cNvSpPr/>
            <p:nvPr/>
          </p:nvSpPr>
          <p:spPr>
            <a:xfrm>
              <a:off x="6690463" y="1750275"/>
              <a:ext cx="716837" cy="708596"/>
            </a:xfrm>
            <a:custGeom>
              <a:avLst/>
              <a:gdLst/>
              <a:ahLst/>
              <a:cxnLst/>
              <a:rect l="l" t="t" r="r" b="b"/>
              <a:pathLst>
                <a:path w="14787" h="14617" extrusionOk="0">
                  <a:moveTo>
                    <a:pt x="7393" y="951"/>
                  </a:moveTo>
                  <a:cubicBezTo>
                    <a:pt x="9294" y="951"/>
                    <a:pt x="10894" y="2373"/>
                    <a:pt x="11117" y="4257"/>
                  </a:cubicBezTo>
                  <a:lnTo>
                    <a:pt x="11167" y="4677"/>
                  </a:lnTo>
                  <a:lnTo>
                    <a:pt x="11589" y="4677"/>
                  </a:lnTo>
                  <a:cubicBezTo>
                    <a:pt x="12827" y="4677"/>
                    <a:pt x="13834" y="5684"/>
                    <a:pt x="13834" y="6921"/>
                  </a:cubicBezTo>
                  <a:cubicBezTo>
                    <a:pt x="13834" y="8158"/>
                    <a:pt x="12827" y="9166"/>
                    <a:pt x="11591" y="9166"/>
                  </a:cubicBezTo>
                  <a:lnTo>
                    <a:pt x="3197" y="9166"/>
                  </a:lnTo>
                  <a:cubicBezTo>
                    <a:pt x="1959" y="9166"/>
                    <a:pt x="952" y="8158"/>
                    <a:pt x="952" y="6921"/>
                  </a:cubicBezTo>
                  <a:cubicBezTo>
                    <a:pt x="952" y="5684"/>
                    <a:pt x="1959" y="4677"/>
                    <a:pt x="3197" y="4677"/>
                  </a:cubicBezTo>
                  <a:lnTo>
                    <a:pt x="3620" y="4677"/>
                  </a:lnTo>
                  <a:lnTo>
                    <a:pt x="3669" y="4257"/>
                  </a:lnTo>
                  <a:cubicBezTo>
                    <a:pt x="3892" y="2373"/>
                    <a:pt x="5492" y="951"/>
                    <a:pt x="7393" y="951"/>
                  </a:cubicBezTo>
                  <a:close/>
                  <a:moveTo>
                    <a:pt x="7393" y="0"/>
                  </a:moveTo>
                  <a:cubicBezTo>
                    <a:pt x="5145" y="0"/>
                    <a:pt x="3232" y="1587"/>
                    <a:pt x="2788" y="3752"/>
                  </a:cubicBezTo>
                  <a:cubicBezTo>
                    <a:pt x="1217" y="3953"/>
                    <a:pt x="1" y="5297"/>
                    <a:pt x="1" y="6922"/>
                  </a:cubicBezTo>
                  <a:cubicBezTo>
                    <a:pt x="1" y="8683"/>
                    <a:pt x="1434" y="10118"/>
                    <a:pt x="3197" y="10118"/>
                  </a:cubicBezTo>
                  <a:lnTo>
                    <a:pt x="4922" y="10118"/>
                  </a:lnTo>
                  <a:lnTo>
                    <a:pt x="4922" y="11608"/>
                  </a:lnTo>
                  <a:lnTo>
                    <a:pt x="3663" y="11608"/>
                  </a:lnTo>
                  <a:lnTo>
                    <a:pt x="3663" y="14616"/>
                  </a:lnTo>
                  <a:lnTo>
                    <a:pt x="4614" y="14616"/>
                  </a:lnTo>
                  <a:lnTo>
                    <a:pt x="4614" y="12561"/>
                  </a:lnTo>
                  <a:lnTo>
                    <a:pt x="5873" y="12561"/>
                  </a:lnTo>
                  <a:lnTo>
                    <a:pt x="5873" y="10118"/>
                  </a:lnTo>
                  <a:lnTo>
                    <a:pt x="8651" y="10118"/>
                  </a:lnTo>
                  <a:lnTo>
                    <a:pt x="8651" y="11608"/>
                  </a:lnTo>
                  <a:lnTo>
                    <a:pt x="7393" y="11608"/>
                  </a:lnTo>
                  <a:lnTo>
                    <a:pt x="7393" y="14616"/>
                  </a:lnTo>
                  <a:lnTo>
                    <a:pt x="8344" y="14616"/>
                  </a:lnTo>
                  <a:lnTo>
                    <a:pt x="8344" y="12561"/>
                  </a:lnTo>
                  <a:lnTo>
                    <a:pt x="9603" y="12561"/>
                  </a:lnTo>
                  <a:lnTo>
                    <a:pt x="9603" y="10118"/>
                  </a:lnTo>
                  <a:lnTo>
                    <a:pt x="11591" y="10118"/>
                  </a:lnTo>
                  <a:cubicBezTo>
                    <a:pt x="13353" y="10118"/>
                    <a:pt x="14787" y="8683"/>
                    <a:pt x="14787" y="6922"/>
                  </a:cubicBezTo>
                  <a:cubicBezTo>
                    <a:pt x="14787" y="5297"/>
                    <a:pt x="13569" y="3953"/>
                    <a:pt x="11999" y="3752"/>
                  </a:cubicBezTo>
                  <a:cubicBezTo>
                    <a:pt x="11556" y="1587"/>
                    <a:pt x="9641" y="0"/>
                    <a:pt x="7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8" name="Google Shape;208;p31">
            <a:extLst>
              <a:ext uri="{FF2B5EF4-FFF2-40B4-BE49-F238E27FC236}">
                <a16:creationId xmlns:a16="http://schemas.microsoft.com/office/drawing/2014/main" id="{03F19373-C4A2-45EE-3BBB-D97F7E6D2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050" y="2882175"/>
            <a:ext cx="5338800" cy="11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209" name="Google Shape;209;p31">
            <a:extLst>
              <a:ext uri="{FF2B5EF4-FFF2-40B4-BE49-F238E27FC236}">
                <a16:creationId xmlns:a16="http://schemas.microsoft.com/office/drawing/2014/main" id="{8D31154C-B5BC-B3DD-3B9B-0F5CC5615C8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99050" y="1368983"/>
            <a:ext cx="1456200" cy="13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210" name="Google Shape;210;p31">
            <a:extLst>
              <a:ext uri="{FF2B5EF4-FFF2-40B4-BE49-F238E27FC236}">
                <a16:creationId xmlns:a16="http://schemas.microsoft.com/office/drawing/2014/main" id="{27AEEFA6-D677-CE77-2E89-F9484B8D5C43}"/>
              </a:ext>
            </a:extLst>
          </p:cNvPr>
          <p:cNvGrpSpPr/>
          <p:nvPr/>
        </p:nvGrpSpPr>
        <p:grpSpPr>
          <a:xfrm>
            <a:off x="7078515" y="609701"/>
            <a:ext cx="1250400" cy="1250400"/>
            <a:chOff x="7078515" y="609701"/>
            <a:chExt cx="1250400" cy="1250400"/>
          </a:xfrm>
        </p:grpSpPr>
        <p:sp>
          <p:nvSpPr>
            <p:cNvPr id="211" name="Google Shape;211;p31">
              <a:extLst>
                <a:ext uri="{FF2B5EF4-FFF2-40B4-BE49-F238E27FC236}">
                  <a16:creationId xmlns:a16="http://schemas.microsoft.com/office/drawing/2014/main" id="{AA1375D0-4574-0ED7-D0F3-4C41A1458271}"/>
                </a:ext>
              </a:extLst>
            </p:cNvPr>
            <p:cNvSpPr/>
            <p:nvPr/>
          </p:nvSpPr>
          <p:spPr>
            <a:xfrm>
              <a:off x="7078515" y="609701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1">
              <a:extLst>
                <a:ext uri="{FF2B5EF4-FFF2-40B4-BE49-F238E27FC236}">
                  <a16:creationId xmlns:a16="http://schemas.microsoft.com/office/drawing/2014/main" id="{0891A9BD-25C5-D510-C7C4-92D6542B1519}"/>
                </a:ext>
              </a:extLst>
            </p:cNvPr>
            <p:cNvSpPr/>
            <p:nvPr/>
          </p:nvSpPr>
          <p:spPr>
            <a:xfrm>
              <a:off x="7385973" y="880600"/>
              <a:ext cx="635513" cy="708602"/>
            </a:xfrm>
            <a:custGeom>
              <a:avLst/>
              <a:gdLst/>
              <a:ahLst/>
              <a:cxnLst/>
              <a:rect l="l" t="t" r="r" b="b"/>
              <a:pathLst>
                <a:path w="13799" h="15386" extrusionOk="0">
                  <a:moveTo>
                    <a:pt x="6423" y="0"/>
                  </a:moveTo>
                  <a:lnTo>
                    <a:pt x="6423" y="1910"/>
                  </a:lnTo>
                  <a:lnTo>
                    <a:pt x="5402" y="887"/>
                  </a:lnTo>
                  <a:lnTo>
                    <a:pt x="4729" y="1561"/>
                  </a:lnTo>
                  <a:lnTo>
                    <a:pt x="6423" y="3255"/>
                  </a:lnTo>
                  <a:lnTo>
                    <a:pt x="6423" y="6869"/>
                  </a:lnTo>
                  <a:lnTo>
                    <a:pt x="3295" y="5062"/>
                  </a:lnTo>
                  <a:lnTo>
                    <a:pt x="2675" y="2747"/>
                  </a:lnTo>
                  <a:lnTo>
                    <a:pt x="1755" y="2993"/>
                  </a:lnTo>
                  <a:lnTo>
                    <a:pt x="2128" y="4389"/>
                  </a:lnTo>
                  <a:lnTo>
                    <a:pt x="475" y="3434"/>
                  </a:lnTo>
                  <a:lnTo>
                    <a:pt x="0" y="4258"/>
                  </a:lnTo>
                  <a:lnTo>
                    <a:pt x="1654" y="5212"/>
                  </a:lnTo>
                  <a:lnTo>
                    <a:pt x="258" y="5587"/>
                  </a:lnTo>
                  <a:lnTo>
                    <a:pt x="504" y="6506"/>
                  </a:lnTo>
                  <a:lnTo>
                    <a:pt x="2819" y="5886"/>
                  </a:lnTo>
                  <a:lnTo>
                    <a:pt x="5948" y="7693"/>
                  </a:lnTo>
                  <a:lnTo>
                    <a:pt x="2819" y="9499"/>
                  </a:lnTo>
                  <a:lnTo>
                    <a:pt x="504" y="8879"/>
                  </a:lnTo>
                  <a:lnTo>
                    <a:pt x="258" y="9798"/>
                  </a:lnTo>
                  <a:lnTo>
                    <a:pt x="1654" y="10171"/>
                  </a:lnTo>
                  <a:lnTo>
                    <a:pt x="0" y="11127"/>
                  </a:lnTo>
                  <a:lnTo>
                    <a:pt x="475" y="11951"/>
                  </a:lnTo>
                  <a:lnTo>
                    <a:pt x="2128" y="10997"/>
                  </a:lnTo>
                  <a:lnTo>
                    <a:pt x="1755" y="12392"/>
                  </a:lnTo>
                  <a:lnTo>
                    <a:pt x="2675" y="12638"/>
                  </a:lnTo>
                  <a:lnTo>
                    <a:pt x="3295" y="10323"/>
                  </a:lnTo>
                  <a:lnTo>
                    <a:pt x="6423" y="8516"/>
                  </a:lnTo>
                  <a:lnTo>
                    <a:pt x="6423" y="12130"/>
                  </a:lnTo>
                  <a:lnTo>
                    <a:pt x="4729" y="13824"/>
                  </a:lnTo>
                  <a:lnTo>
                    <a:pt x="5402" y="14496"/>
                  </a:lnTo>
                  <a:lnTo>
                    <a:pt x="6423" y="13475"/>
                  </a:lnTo>
                  <a:lnTo>
                    <a:pt x="6423" y="15385"/>
                  </a:lnTo>
                  <a:lnTo>
                    <a:pt x="7376" y="15385"/>
                  </a:lnTo>
                  <a:lnTo>
                    <a:pt x="7376" y="13475"/>
                  </a:lnTo>
                  <a:lnTo>
                    <a:pt x="8397" y="14496"/>
                  </a:lnTo>
                  <a:lnTo>
                    <a:pt x="9070" y="13824"/>
                  </a:lnTo>
                  <a:lnTo>
                    <a:pt x="7376" y="12130"/>
                  </a:lnTo>
                  <a:lnTo>
                    <a:pt x="7376" y="8516"/>
                  </a:lnTo>
                  <a:lnTo>
                    <a:pt x="10504" y="10323"/>
                  </a:lnTo>
                  <a:lnTo>
                    <a:pt x="11124" y="12638"/>
                  </a:lnTo>
                  <a:lnTo>
                    <a:pt x="12044" y="12392"/>
                  </a:lnTo>
                  <a:lnTo>
                    <a:pt x="11669" y="10997"/>
                  </a:lnTo>
                  <a:lnTo>
                    <a:pt x="13322" y="11951"/>
                  </a:lnTo>
                  <a:lnTo>
                    <a:pt x="13799" y="11127"/>
                  </a:lnTo>
                  <a:lnTo>
                    <a:pt x="12145" y="10171"/>
                  </a:lnTo>
                  <a:lnTo>
                    <a:pt x="13541" y="9798"/>
                  </a:lnTo>
                  <a:lnTo>
                    <a:pt x="13294" y="8879"/>
                  </a:lnTo>
                  <a:lnTo>
                    <a:pt x="10980" y="9499"/>
                  </a:lnTo>
                  <a:lnTo>
                    <a:pt x="7851" y="7693"/>
                  </a:lnTo>
                  <a:lnTo>
                    <a:pt x="10980" y="5886"/>
                  </a:lnTo>
                  <a:lnTo>
                    <a:pt x="13294" y="6506"/>
                  </a:lnTo>
                  <a:lnTo>
                    <a:pt x="13541" y="5587"/>
                  </a:lnTo>
                  <a:lnTo>
                    <a:pt x="12145" y="5212"/>
                  </a:lnTo>
                  <a:lnTo>
                    <a:pt x="13799" y="4258"/>
                  </a:lnTo>
                  <a:lnTo>
                    <a:pt x="13322" y="3434"/>
                  </a:lnTo>
                  <a:lnTo>
                    <a:pt x="11669" y="4389"/>
                  </a:lnTo>
                  <a:lnTo>
                    <a:pt x="12044" y="2993"/>
                  </a:lnTo>
                  <a:lnTo>
                    <a:pt x="11124" y="2747"/>
                  </a:lnTo>
                  <a:lnTo>
                    <a:pt x="10504" y="5062"/>
                  </a:lnTo>
                  <a:lnTo>
                    <a:pt x="7376" y="6867"/>
                  </a:lnTo>
                  <a:lnTo>
                    <a:pt x="7376" y="3255"/>
                  </a:lnTo>
                  <a:lnTo>
                    <a:pt x="9070" y="1561"/>
                  </a:lnTo>
                  <a:lnTo>
                    <a:pt x="8397" y="887"/>
                  </a:lnTo>
                  <a:lnTo>
                    <a:pt x="7376" y="1910"/>
                  </a:lnTo>
                  <a:lnTo>
                    <a:pt x="7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017B7BF-7F66-CE90-BE83-915CDA904353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662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63E515F7-B5E3-B2BD-DD67-C1FF7AD2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08;p31">
            <a:extLst>
              <a:ext uri="{FF2B5EF4-FFF2-40B4-BE49-F238E27FC236}">
                <a16:creationId xmlns:a16="http://schemas.microsoft.com/office/drawing/2014/main" id="{40EEA3EA-250C-D054-4387-897C38CD6C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375" y="82371"/>
            <a:ext cx="4539717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Methodology</a:t>
            </a:r>
            <a:endParaRPr sz="3600">
              <a:highlight>
                <a:srgbClr val="FFFF00"/>
              </a:highligh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B749A2-D571-EFD8-CB28-219E3C11C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901" y="698489"/>
            <a:ext cx="5138724" cy="26643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93AEA65-D258-D97F-B02A-B7FC90C44A73}"/>
              </a:ext>
            </a:extLst>
          </p:cNvPr>
          <p:cNvSpPr txBox="1"/>
          <p:nvPr/>
        </p:nvSpPr>
        <p:spPr>
          <a:xfrm>
            <a:off x="406827" y="658299"/>
            <a:ext cx="319162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/>
              <a:t>Machine Learning Model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b="1"/>
              <a:t>Multi-Layer Perceptron (MLP): </a:t>
            </a:r>
            <a:r>
              <a:rPr lang="en-GB"/>
              <a:t>deep-learning model used to process the satellite data and produce precipitation estimates.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b="1"/>
              <a:t>Architecture: </a:t>
            </a:r>
            <a:r>
              <a:rPr lang="en-GB"/>
              <a:t>multiple layers of artificial neurons; input data (satellite IR and PMW) pass through several hidden layers before generating the output (precipitation estimates)</a:t>
            </a:r>
            <a:r>
              <a:rPr lang="en-US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/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 b="1"/>
              <a:t>Training:</a:t>
            </a:r>
            <a:r>
              <a:rPr lang="en-GB"/>
              <a:t> the MLP is trained in a supervised way, using high-quality ground radar rainfall estimates as target labels.</a:t>
            </a:r>
            <a:endParaRPr lang="en-US"/>
          </a:p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5C57CB-80CE-1269-5C26-754D318EE8EA}"/>
              </a:ext>
            </a:extLst>
          </p:cNvPr>
          <p:cNvSpPr txBox="1"/>
          <p:nvPr/>
        </p:nvSpPr>
        <p:spPr>
          <a:xfrm>
            <a:off x="7776275" y="3362849"/>
            <a:ext cx="12954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>
                <a:solidFill>
                  <a:srgbClr val="002060"/>
                </a:solidFill>
              </a:rPr>
              <a:t>CHEN et 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069A9-5958-BECA-4A2F-AEAE47C20A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624" y="3565831"/>
            <a:ext cx="1318374" cy="8839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EB4577-9B8F-2870-0697-26B3FFCFCE3B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5454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63B27992-77C8-4F80-CC2F-E56D5A5B6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1">
            <a:extLst>
              <a:ext uri="{FF2B5EF4-FFF2-40B4-BE49-F238E27FC236}">
                <a16:creationId xmlns:a16="http://schemas.microsoft.com/office/drawing/2014/main" id="{FF980956-C3C6-D099-582C-66C4A0A0BB08}"/>
              </a:ext>
            </a:extLst>
          </p:cNvPr>
          <p:cNvGrpSpPr/>
          <p:nvPr/>
        </p:nvGrpSpPr>
        <p:grpSpPr>
          <a:xfrm>
            <a:off x="7993430" y="9477"/>
            <a:ext cx="443668" cy="425367"/>
            <a:chOff x="6423665" y="1479376"/>
            <a:chExt cx="1250400" cy="1250400"/>
          </a:xfrm>
        </p:grpSpPr>
        <p:sp>
          <p:nvSpPr>
            <p:cNvPr id="206" name="Google Shape;206;p31">
              <a:extLst>
                <a:ext uri="{FF2B5EF4-FFF2-40B4-BE49-F238E27FC236}">
                  <a16:creationId xmlns:a16="http://schemas.microsoft.com/office/drawing/2014/main" id="{B6004FF0-8EE4-6C9D-BEF0-6D0CBF84A007}"/>
                </a:ext>
              </a:extLst>
            </p:cNvPr>
            <p:cNvSpPr/>
            <p:nvPr/>
          </p:nvSpPr>
          <p:spPr>
            <a:xfrm>
              <a:off x="6423665" y="1479376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1">
              <a:extLst>
                <a:ext uri="{FF2B5EF4-FFF2-40B4-BE49-F238E27FC236}">
                  <a16:creationId xmlns:a16="http://schemas.microsoft.com/office/drawing/2014/main" id="{F2EB654D-2286-E2DF-89AA-76F0437C1700}"/>
                </a:ext>
              </a:extLst>
            </p:cNvPr>
            <p:cNvSpPr/>
            <p:nvPr/>
          </p:nvSpPr>
          <p:spPr>
            <a:xfrm>
              <a:off x="6690463" y="1750275"/>
              <a:ext cx="716837" cy="708596"/>
            </a:xfrm>
            <a:custGeom>
              <a:avLst/>
              <a:gdLst/>
              <a:ahLst/>
              <a:cxnLst/>
              <a:rect l="l" t="t" r="r" b="b"/>
              <a:pathLst>
                <a:path w="14787" h="14617" extrusionOk="0">
                  <a:moveTo>
                    <a:pt x="7393" y="951"/>
                  </a:moveTo>
                  <a:cubicBezTo>
                    <a:pt x="9294" y="951"/>
                    <a:pt x="10894" y="2373"/>
                    <a:pt x="11117" y="4257"/>
                  </a:cubicBezTo>
                  <a:lnTo>
                    <a:pt x="11167" y="4677"/>
                  </a:lnTo>
                  <a:lnTo>
                    <a:pt x="11589" y="4677"/>
                  </a:lnTo>
                  <a:cubicBezTo>
                    <a:pt x="12827" y="4677"/>
                    <a:pt x="13834" y="5684"/>
                    <a:pt x="13834" y="6921"/>
                  </a:cubicBezTo>
                  <a:cubicBezTo>
                    <a:pt x="13834" y="8158"/>
                    <a:pt x="12827" y="9166"/>
                    <a:pt x="11591" y="9166"/>
                  </a:cubicBezTo>
                  <a:lnTo>
                    <a:pt x="3197" y="9166"/>
                  </a:lnTo>
                  <a:cubicBezTo>
                    <a:pt x="1959" y="9166"/>
                    <a:pt x="952" y="8158"/>
                    <a:pt x="952" y="6921"/>
                  </a:cubicBezTo>
                  <a:cubicBezTo>
                    <a:pt x="952" y="5684"/>
                    <a:pt x="1959" y="4677"/>
                    <a:pt x="3197" y="4677"/>
                  </a:cubicBezTo>
                  <a:lnTo>
                    <a:pt x="3620" y="4677"/>
                  </a:lnTo>
                  <a:lnTo>
                    <a:pt x="3669" y="4257"/>
                  </a:lnTo>
                  <a:cubicBezTo>
                    <a:pt x="3892" y="2373"/>
                    <a:pt x="5492" y="951"/>
                    <a:pt x="7393" y="951"/>
                  </a:cubicBezTo>
                  <a:close/>
                  <a:moveTo>
                    <a:pt x="7393" y="0"/>
                  </a:moveTo>
                  <a:cubicBezTo>
                    <a:pt x="5145" y="0"/>
                    <a:pt x="3232" y="1587"/>
                    <a:pt x="2788" y="3752"/>
                  </a:cubicBezTo>
                  <a:cubicBezTo>
                    <a:pt x="1217" y="3953"/>
                    <a:pt x="1" y="5297"/>
                    <a:pt x="1" y="6922"/>
                  </a:cubicBezTo>
                  <a:cubicBezTo>
                    <a:pt x="1" y="8683"/>
                    <a:pt x="1434" y="10118"/>
                    <a:pt x="3197" y="10118"/>
                  </a:cubicBezTo>
                  <a:lnTo>
                    <a:pt x="4922" y="10118"/>
                  </a:lnTo>
                  <a:lnTo>
                    <a:pt x="4922" y="11608"/>
                  </a:lnTo>
                  <a:lnTo>
                    <a:pt x="3663" y="11608"/>
                  </a:lnTo>
                  <a:lnTo>
                    <a:pt x="3663" y="14616"/>
                  </a:lnTo>
                  <a:lnTo>
                    <a:pt x="4614" y="14616"/>
                  </a:lnTo>
                  <a:lnTo>
                    <a:pt x="4614" y="12561"/>
                  </a:lnTo>
                  <a:lnTo>
                    <a:pt x="5873" y="12561"/>
                  </a:lnTo>
                  <a:lnTo>
                    <a:pt x="5873" y="10118"/>
                  </a:lnTo>
                  <a:lnTo>
                    <a:pt x="8651" y="10118"/>
                  </a:lnTo>
                  <a:lnTo>
                    <a:pt x="8651" y="11608"/>
                  </a:lnTo>
                  <a:lnTo>
                    <a:pt x="7393" y="11608"/>
                  </a:lnTo>
                  <a:lnTo>
                    <a:pt x="7393" y="14616"/>
                  </a:lnTo>
                  <a:lnTo>
                    <a:pt x="8344" y="14616"/>
                  </a:lnTo>
                  <a:lnTo>
                    <a:pt x="8344" y="12561"/>
                  </a:lnTo>
                  <a:lnTo>
                    <a:pt x="9603" y="12561"/>
                  </a:lnTo>
                  <a:lnTo>
                    <a:pt x="9603" y="10118"/>
                  </a:lnTo>
                  <a:lnTo>
                    <a:pt x="11591" y="10118"/>
                  </a:lnTo>
                  <a:cubicBezTo>
                    <a:pt x="13353" y="10118"/>
                    <a:pt x="14787" y="8683"/>
                    <a:pt x="14787" y="6922"/>
                  </a:cubicBezTo>
                  <a:cubicBezTo>
                    <a:pt x="14787" y="5297"/>
                    <a:pt x="13569" y="3953"/>
                    <a:pt x="11999" y="3752"/>
                  </a:cubicBezTo>
                  <a:cubicBezTo>
                    <a:pt x="11556" y="1587"/>
                    <a:pt x="9641" y="0"/>
                    <a:pt x="7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31">
            <a:extLst>
              <a:ext uri="{FF2B5EF4-FFF2-40B4-BE49-F238E27FC236}">
                <a16:creationId xmlns:a16="http://schemas.microsoft.com/office/drawing/2014/main" id="{1B362851-8169-DCEA-6BC9-DBA0F367143F}"/>
              </a:ext>
            </a:extLst>
          </p:cNvPr>
          <p:cNvGrpSpPr/>
          <p:nvPr/>
        </p:nvGrpSpPr>
        <p:grpSpPr>
          <a:xfrm>
            <a:off x="8677717" y="-47045"/>
            <a:ext cx="490432" cy="481890"/>
            <a:chOff x="7078515" y="609701"/>
            <a:chExt cx="1250400" cy="1250400"/>
          </a:xfrm>
        </p:grpSpPr>
        <p:sp>
          <p:nvSpPr>
            <p:cNvPr id="211" name="Google Shape;211;p31">
              <a:extLst>
                <a:ext uri="{FF2B5EF4-FFF2-40B4-BE49-F238E27FC236}">
                  <a16:creationId xmlns:a16="http://schemas.microsoft.com/office/drawing/2014/main" id="{24202D26-7FAC-EB6E-0DC8-F00D9AC83766}"/>
                </a:ext>
              </a:extLst>
            </p:cNvPr>
            <p:cNvSpPr/>
            <p:nvPr/>
          </p:nvSpPr>
          <p:spPr>
            <a:xfrm>
              <a:off x="7078515" y="609701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1">
              <a:extLst>
                <a:ext uri="{FF2B5EF4-FFF2-40B4-BE49-F238E27FC236}">
                  <a16:creationId xmlns:a16="http://schemas.microsoft.com/office/drawing/2014/main" id="{910F569A-20F2-7F1F-6C38-95E5AD5A8B58}"/>
                </a:ext>
              </a:extLst>
            </p:cNvPr>
            <p:cNvSpPr/>
            <p:nvPr/>
          </p:nvSpPr>
          <p:spPr>
            <a:xfrm>
              <a:off x="7385973" y="880600"/>
              <a:ext cx="635513" cy="708602"/>
            </a:xfrm>
            <a:custGeom>
              <a:avLst/>
              <a:gdLst/>
              <a:ahLst/>
              <a:cxnLst/>
              <a:rect l="l" t="t" r="r" b="b"/>
              <a:pathLst>
                <a:path w="13799" h="15386" extrusionOk="0">
                  <a:moveTo>
                    <a:pt x="6423" y="0"/>
                  </a:moveTo>
                  <a:lnTo>
                    <a:pt x="6423" y="1910"/>
                  </a:lnTo>
                  <a:lnTo>
                    <a:pt x="5402" y="887"/>
                  </a:lnTo>
                  <a:lnTo>
                    <a:pt x="4729" y="1561"/>
                  </a:lnTo>
                  <a:lnTo>
                    <a:pt x="6423" y="3255"/>
                  </a:lnTo>
                  <a:lnTo>
                    <a:pt x="6423" y="6869"/>
                  </a:lnTo>
                  <a:lnTo>
                    <a:pt x="3295" y="5062"/>
                  </a:lnTo>
                  <a:lnTo>
                    <a:pt x="2675" y="2747"/>
                  </a:lnTo>
                  <a:lnTo>
                    <a:pt x="1755" y="2993"/>
                  </a:lnTo>
                  <a:lnTo>
                    <a:pt x="2128" y="4389"/>
                  </a:lnTo>
                  <a:lnTo>
                    <a:pt x="475" y="3434"/>
                  </a:lnTo>
                  <a:lnTo>
                    <a:pt x="0" y="4258"/>
                  </a:lnTo>
                  <a:lnTo>
                    <a:pt x="1654" y="5212"/>
                  </a:lnTo>
                  <a:lnTo>
                    <a:pt x="258" y="5587"/>
                  </a:lnTo>
                  <a:lnTo>
                    <a:pt x="504" y="6506"/>
                  </a:lnTo>
                  <a:lnTo>
                    <a:pt x="2819" y="5886"/>
                  </a:lnTo>
                  <a:lnTo>
                    <a:pt x="5948" y="7693"/>
                  </a:lnTo>
                  <a:lnTo>
                    <a:pt x="2819" y="9499"/>
                  </a:lnTo>
                  <a:lnTo>
                    <a:pt x="504" y="8879"/>
                  </a:lnTo>
                  <a:lnTo>
                    <a:pt x="258" y="9798"/>
                  </a:lnTo>
                  <a:lnTo>
                    <a:pt x="1654" y="10171"/>
                  </a:lnTo>
                  <a:lnTo>
                    <a:pt x="0" y="11127"/>
                  </a:lnTo>
                  <a:lnTo>
                    <a:pt x="475" y="11951"/>
                  </a:lnTo>
                  <a:lnTo>
                    <a:pt x="2128" y="10997"/>
                  </a:lnTo>
                  <a:lnTo>
                    <a:pt x="1755" y="12392"/>
                  </a:lnTo>
                  <a:lnTo>
                    <a:pt x="2675" y="12638"/>
                  </a:lnTo>
                  <a:lnTo>
                    <a:pt x="3295" y="10323"/>
                  </a:lnTo>
                  <a:lnTo>
                    <a:pt x="6423" y="8516"/>
                  </a:lnTo>
                  <a:lnTo>
                    <a:pt x="6423" y="12130"/>
                  </a:lnTo>
                  <a:lnTo>
                    <a:pt x="4729" y="13824"/>
                  </a:lnTo>
                  <a:lnTo>
                    <a:pt x="5402" y="14496"/>
                  </a:lnTo>
                  <a:lnTo>
                    <a:pt x="6423" y="13475"/>
                  </a:lnTo>
                  <a:lnTo>
                    <a:pt x="6423" y="15385"/>
                  </a:lnTo>
                  <a:lnTo>
                    <a:pt x="7376" y="15385"/>
                  </a:lnTo>
                  <a:lnTo>
                    <a:pt x="7376" y="13475"/>
                  </a:lnTo>
                  <a:lnTo>
                    <a:pt x="8397" y="14496"/>
                  </a:lnTo>
                  <a:lnTo>
                    <a:pt x="9070" y="13824"/>
                  </a:lnTo>
                  <a:lnTo>
                    <a:pt x="7376" y="12130"/>
                  </a:lnTo>
                  <a:lnTo>
                    <a:pt x="7376" y="8516"/>
                  </a:lnTo>
                  <a:lnTo>
                    <a:pt x="10504" y="10323"/>
                  </a:lnTo>
                  <a:lnTo>
                    <a:pt x="11124" y="12638"/>
                  </a:lnTo>
                  <a:lnTo>
                    <a:pt x="12044" y="12392"/>
                  </a:lnTo>
                  <a:lnTo>
                    <a:pt x="11669" y="10997"/>
                  </a:lnTo>
                  <a:lnTo>
                    <a:pt x="13322" y="11951"/>
                  </a:lnTo>
                  <a:lnTo>
                    <a:pt x="13799" y="11127"/>
                  </a:lnTo>
                  <a:lnTo>
                    <a:pt x="12145" y="10171"/>
                  </a:lnTo>
                  <a:lnTo>
                    <a:pt x="13541" y="9798"/>
                  </a:lnTo>
                  <a:lnTo>
                    <a:pt x="13294" y="8879"/>
                  </a:lnTo>
                  <a:lnTo>
                    <a:pt x="10980" y="9499"/>
                  </a:lnTo>
                  <a:lnTo>
                    <a:pt x="7851" y="7693"/>
                  </a:lnTo>
                  <a:lnTo>
                    <a:pt x="10980" y="5886"/>
                  </a:lnTo>
                  <a:lnTo>
                    <a:pt x="13294" y="6506"/>
                  </a:lnTo>
                  <a:lnTo>
                    <a:pt x="13541" y="5587"/>
                  </a:lnTo>
                  <a:lnTo>
                    <a:pt x="12145" y="5212"/>
                  </a:lnTo>
                  <a:lnTo>
                    <a:pt x="13799" y="4258"/>
                  </a:lnTo>
                  <a:lnTo>
                    <a:pt x="13322" y="3434"/>
                  </a:lnTo>
                  <a:lnTo>
                    <a:pt x="11669" y="4389"/>
                  </a:lnTo>
                  <a:lnTo>
                    <a:pt x="12044" y="2993"/>
                  </a:lnTo>
                  <a:lnTo>
                    <a:pt x="11124" y="2747"/>
                  </a:lnTo>
                  <a:lnTo>
                    <a:pt x="10504" y="5062"/>
                  </a:lnTo>
                  <a:lnTo>
                    <a:pt x="7376" y="6867"/>
                  </a:lnTo>
                  <a:lnTo>
                    <a:pt x="7376" y="3255"/>
                  </a:lnTo>
                  <a:lnTo>
                    <a:pt x="9070" y="1561"/>
                  </a:lnTo>
                  <a:lnTo>
                    <a:pt x="8397" y="887"/>
                  </a:lnTo>
                  <a:lnTo>
                    <a:pt x="7376" y="1910"/>
                  </a:lnTo>
                  <a:lnTo>
                    <a:pt x="7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208;p31">
            <a:extLst>
              <a:ext uri="{FF2B5EF4-FFF2-40B4-BE49-F238E27FC236}">
                <a16:creationId xmlns:a16="http://schemas.microsoft.com/office/drawing/2014/main" id="{1207355C-4587-D279-9CA8-52E81E7175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9816" y="180505"/>
            <a:ext cx="2743200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Methodology</a:t>
            </a:r>
            <a:endParaRPr sz="3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2A80B7-5991-87BB-D0B6-53997A9BBC27}"/>
              </a:ext>
            </a:extLst>
          </p:cNvPr>
          <p:cNvSpPr txBox="1"/>
          <p:nvPr/>
        </p:nvSpPr>
        <p:spPr>
          <a:xfrm>
            <a:off x="385583" y="1418914"/>
            <a:ext cx="4739339" cy="2181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1"/>
              <a:t>1. Satellite Data</a:t>
            </a:r>
            <a:endParaRPr lang="en-US" i="1"/>
          </a:p>
          <a:p>
            <a:pPr marL="171450" lvl="8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b="1"/>
              <a:t>Infrared (IR) data </a:t>
            </a:r>
          </a:p>
          <a:p>
            <a:pPr lvl="8">
              <a:lnSpc>
                <a:spcPct val="150000"/>
              </a:lnSpc>
            </a:pPr>
            <a:r>
              <a:rPr lang="en-US" sz="1200"/>
              <a:t>from geostationary satellites </a:t>
            </a:r>
            <a:r>
              <a:rPr lang="en-US" sz="1050"/>
              <a:t>(e.g., Himawari-8, GOES)</a:t>
            </a:r>
          </a:p>
          <a:p>
            <a:pPr marL="171450" lvl="8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200" b="1"/>
              <a:t>Passive Microwave (PMW) </a:t>
            </a:r>
            <a:r>
              <a:rPr lang="en-US" sz="1200"/>
              <a:t>data </a:t>
            </a:r>
          </a:p>
          <a:p>
            <a:pPr lvl="8">
              <a:lnSpc>
                <a:spcPct val="150000"/>
              </a:lnSpc>
            </a:pPr>
            <a:r>
              <a:rPr lang="en-US" sz="1200"/>
              <a:t>from </a:t>
            </a:r>
            <a:r>
              <a:rPr lang="en-US" sz="1200" b="1" i="1"/>
              <a:t>Low Earth Orbit (LEO) </a:t>
            </a:r>
            <a:r>
              <a:rPr lang="en-US" sz="1200"/>
              <a:t>satellites </a:t>
            </a:r>
            <a:r>
              <a:rPr lang="en-US" sz="1000"/>
              <a:t>(e.g., NOAA, </a:t>
            </a:r>
            <a:r>
              <a:rPr lang="en-US" sz="1000" err="1"/>
              <a:t>MetOp</a:t>
            </a:r>
            <a:r>
              <a:rPr lang="en-US" sz="1000"/>
              <a:t> satellites). </a:t>
            </a:r>
            <a:endParaRPr lang="en-US" b="1"/>
          </a:p>
          <a:p>
            <a:pPr lvl="8">
              <a:lnSpc>
                <a:spcPct val="150000"/>
              </a:lnSpc>
            </a:pPr>
            <a:r>
              <a:rPr lang="en-US" b="1" i="1"/>
              <a:t>2. Radar Data </a:t>
            </a:r>
          </a:p>
          <a:p>
            <a:pPr lvl="8">
              <a:lnSpc>
                <a:spcPct val="150000"/>
              </a:lnSpc>
            </a:pPr>
            <a:r>
              <a:rPr lang="en-US" sz="1200"/>
              <a:t>Ground Radar Data </a:t>
            </a:r>
            <a:r>
              <a:rPr lang="en-US" sz="1050" i="1"/>
              <a:t>(Target Labels) </a:t>
            </a:r>
            <a:r>
              <a:rPr lang="en-US" sz="1100" i="1"/>
              <a:t> </a:t>
            </a:r>
            <a:endParaRPr lang="en-US" i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9FF917-B05D-708C-7907-B2C5D9FB7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7449" y="508832"/>
            <a:ext cx="3384851" cy="38852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766F5B-B876-9DE8-10E4-A8FB8C100BDF}"/>
              </a:ext>
            </a:extLst>
          </p:cNvPr>
          <p:cNvSpPr txBox="1"/>
          <p:nvPr/>
        </p:nvSpPr>
        <p:spPr>
          <a:xfrm>
            <a:off x="203821" y="4648250"/>
            <a:ext cx="1295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>
                <a:solidFill>
                  <a:srgbClr val="002060"/>
                </a:solidFill>
              </a:rPr>
              <a:t>CHEN et 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328D1B-B047-6C0A-6D58-7836D8376997}"/>
              </a:ext>
            </a:extLst>
          </p:cNvPr>
          <p:cNvSpPr txBox="1"/>
          <p:nvPr/>
        </p:nvSpPr>
        <p:spPr>
          <a:xfrm>
            <a:off x="385583" y="1086185"/>
            <a:ext cx="11620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/>
              <a:t>Inputs</a:t>
            </a:r>
            <a:r>
              <a:rPr lang="en-US" b="1" u="sng"/>
              <a:t> 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99137A-F785-9AFE-283D-70C8A1EA1845}"/>
              </a:ext>
            </a:extLst>
          </p:cNvPr>
          <p:cNvSpPr txBox="1"/>
          <p:nvPr/>
        </p:nvSpPr>
        <p:spPr>
          <a:xfrm>
            <a:off x="450761" y="3712190"/>
            <a:ext cx="4477095" cy="7386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>
                <a:latin typeface="Bahnschrift SemiBold" panose="020B0502040204020203" pitchFamily="34" charset="0"/>
              </a:rPr>
              <a:t>The machine learning model learns:</a:t>
            </a:r>
          </a:p>
          <a:p>
            <a:pPr>
              <a:buNone/>
            </a:pPr>
            <a:r>
              <a:rPr lang="en-US">
                <a:latin typeface="Bahnschrift SemiBold" panose="020B0502040204020203" pitchFamily="34" charset="0"/>
              </a:rPr>
              <a:t>“Given this IR and PMW signal pattern, radar said rainfall was X mm/hr.”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0C217E-3E18-0A0B-0317-2227A266B266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9D5C04-1295-A79E-45B7-734B77A86DAD}"/>
              </a:ext>
            </a:extLst>
          </p:cNvPr>
          <p:cNvSpPr txBox="1"/>
          <p:nvPr/>
        </p:nvSpPr>
        <p:spPr>
          <a:xfrm>
            <a:off x="5515607" y="4453594"/>
            <a:ext cx="2699657" cy="2539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/>
              <a:t>Dallas–Fort Worth Radar Network </a:t>
            </a:r>
          </a:p>
        </p:txBody>
      </p:sp>
    </p:spTree>
    <p:extLst>
      <p:ext uri="{BB962C8B-B14F-4D97-AF65-F5344CB8AC3E}">
        <p14:creationId xmlns:p14="http://schemas.microsoft.com/office/powerpoint/2010/main" val="782204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9306CF6C-6792-9E3C-3B91-BF5D0FD76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1">
            <a:extLst>
              <a:ext uri="{FF2B5EF4-FFF2-40B4-BE49-F238E27FC236}">
                <a16:creationId xmlns:a16="http://schemas.microsoft.com/office/drawing/2014/main" id="{8372DFE1-FB51-1BD1-DDA1-A4857792059E}"/>
              </a:ext>
            </a:extLst>
          </p:cNvPr>
          <p:cNvGrpSpPr/>
          <p:nvPr/>
        </p:nvGrpSpPr>
        <p:grpSpPr>
          <a:xfrm>
            <a:off x="8695224" y="302820"/>
            <a:ext cx="550821" cy="490864"/>
            <a:chOff x="6423665" y="1479376"/>
            <a:chExt cx="1250400" cy="1250400"/>
          </a:xfrm>
        </p:grpSpPr>
        <p:sp>
          <p:nvSpPr>
            <p:cNvPr id="206" name="Google Shape;206;p31">
              <a:extLst>
                <a:ext uri="{FF2B5EF4-FFF2-40B4-BE49-F238E27FC236}">
                  <a16:creationId xmlns:a16="http://schemas.microsoft.com/office/drawing/2014/main" id="{F43F2E0F-89E2-98F6-6BF2-C5AAA024AAE4}"/>
                </a:ext>
              </a:extLst>
            </p:cNvPr>
            <p:cNvSpPr/>
            <p:nvPr/>
          </p:nvSpPr>
          <p:spPr>
            <a:xfrm>
              <a:off x="6423665" y="1479376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1">
              <a:extLst>
                <a:ext uri="{FF2B5EF4-FFF2-40B4-BE49-F238E27FC236}">
                  <a16:creationId xmlns:a16="http://schemas.microsoft.com/office/drawing/2014/main" id="{1A0683E2-82C6-5059-567F-C1FED0E9AEDB}"/>
                </a:ext>
              </a:extLst>
            </p:cNvPr>
            <p:cNvSpPr/>
            <p:nvPr/>
          </p:nvSpPr>
          <p:spPr>
            <a:xfrm>
              <a:off x="6690463" y="1750275"/>
              <a:ext cx="716837" cy="708596"/>
            </a:xfrm>
            <a:custGeom>
              <a:avLst/>
              <a:gdLst/>
              <a:ahLst/>
              <a:cxnLst/>
              <a:rect l="l" t="t" r="r" b="b"/>
              <a:pathLst>
                <a:path w="14787" h="14617" extrusionOk="0">
                  <a:moveTo>
                    <a:pt x="7393" y="951"/>
                  </a:moveTo>
                  <a:cubicBezTo>
                    <a:pt x="9294" y="951"/>
                    <a:pt x="10894" y="2373"/>
                    <a:pt x="11117" y="4257"/>
                  </a:cubicBezTo>
                  <a:lnTo>
                    <a:pt x="11167" y="4677"/>
                  </a:lnTo>
                  <a:lnTo>
                    <a:pt x="11589" y="4677"/>
                  </a:lnTo>
                  <a:cubicBezTo>
                    <a:pt x="12827" y="4677"/>
                    <a:pt x="13834" y="5684"/>
                    <a:pt x="13834" y="6921"/>
                  </a:cubicBezTo>
                  <a:cubicBezTo>
                    <a:pt x="13834" y="8158"/>
                    <a:pt x="12827" y="9166"/>
                    <a:pt x="11591" y="9166"/>
                  </a:cubicBezTo>
                  <a:lnTo>
                    <a:pt x="3197" y="9166"/>
                  </a:lnTo>
                  <a:cubicBezTo>
                    <a:pt x="1959" y="9166"/>
                    <a:pt x="952" y="8158"/>
                    <a:pt x="952" y="6921"/>
                  </a:cubicBezTo>
                  <a:cubicBezTo>
                    <a:pt x="952" y="5684"/>
                    <a:pt x="1959" y="4677"/>
                    <a:pt x="3197" y="4677"/>
                  </a:cubicBezTo>
                  <a:lnTo>
                    <a:pt x="3620" y="4677"/>
                  </a:lnTo>
                  <a:lnTo>
                    <a:pt x="3669" y="4257"/>
                  </a:lnTo>
                  <a:cubicBezTo>
                    <a:pt x="3892" y="2373"/>
                    <a:pt x="5492" y="951"/>
                    <a:pt x="7393" y="951"/>
                  </a:cubicBezTo>
                  <a:close/>
                  <a:moveTo>
                    <a:pt x="7393" y="0"/>
                  </a:moveTo>
                  <a:cubicBezTo>
                    <a:pt x="5145" y="0"/>
                    <a:pt x="3232" y="1587"/>
                    <a:pt x="2788" y="3752"/>
                  </a:cubicBezTo>
                  <a:cubicBezTo>
                    <a:pt x="1217" y="3953"/>
                    <a:pt x="1" y="5297"/>
                    <a:pt x="1" y="6922"/>
                  </a:cubicBezTo>
                  <a:cubicBezTo>
                    <a:pt x="1" y="8683"/>
                    <a:pt x="1434" y="10118"/>
                    <a:pt x="3197" y="10118"/>
                  </a:cubicBezTo>
                  <a:lnTo>
                    <a:pt x="4922" y="10118"/>
                  </a:lnTo>
                  <a:lnTo>
                    <a:pt x="4922" y="11608"/>
                  </a:lnTo>
                  <a:lnTo>
                    <a:pt x="3663" y="11608"/>
                  </a:lnTo>
                  <a:lnTo>
                    <a:pt x="3663" y="14616"/>
                  </a:lnTo>
                  <a:lnTo>
                    <a:pt x="4614" y="14616"/>
                  </a:lnTo>
                  <a:lnTo>
                    <a:pt x="4614" y="12561"/>
                  </a:lnTo>
                  <a:lnTo>
                    <a:pt x="5873" y="12561"/>
                  </a:lnTo>
                  <a:lnTo>
                    <a:pt x="5873" y="10118"/>
                  </a:lnTo>
                  <a:lnTo>
                    <a:pt x="8651" y="10118"/>
                  </a:lnTo>
                  <a:lnTo>
                    <a:pt x="8651" y="11608"/>
                  </a:lnTo>
                  <a:lnTo>
                    <a:pt x="7393" y="11608"/>
                  </a:lnTo>
                  <a:lnTo>
                    <a:pt x="7393" y="14616"/>
                  </a:lnTo>
                  <a:lnTo>
                    <a:pt x="8344" y="14616"/>
                  </a:lnTo>
                  <a:lnTo>
                    <a:pt x="8344" y="12561"/>
                  </a:lnTo>
                  <a:lnTo>
                    <a:pt x="9603" y="12561"/>
                  </a:lnTo>
                  <a:lnTo>
                    <a:pt x="9603" y="10118"/>
                  </a:lnTo>
                  <a:lnTo>
                    <a:pt x="11591" y="10118"/>
                  </a:lnTo>
                  <a:cubicBezTo>
                    <a:pt x="13353" y="10118"/>
                    <a:pt x="14787" y="8683"/>
                    <a:pt x="14787" y="6922"/>
                  </a:cubicBezTo>
                  <a:cubicBezTo>
                    <a:pt x="14787" y="5297"/>
                    <a:pt x="13569" y="3953"/>
                    <a:pt x="11999" y="3752"/>
                  </a:cubicBezTo>
                  <a:cubicBezTo>
                    <a:pt x="11556" y="1587"/>
                    <a:pt x="9641" y="0"/>
                    <a:pt x="7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31">
            <a:extLst>
              <a:ext uri="{FF2B5EF4-FFF2-40B4-BE49-F238E27FC236}">
                <a16:creationId xmlns:a16="http://schemas.microsoft.com/office/drawing/2014/main" id="{95B05AD4-6323-65DA-0C6A-065BB3706BEA}"/>
              </a:ext>
            </a:extLst>
          </p:cNvPr>
          <p:cNvGrpSpPr/>
          <p:nvPr/>
        </p:nvGrpSpPr>
        <p:grpSpPr>
          <a:xfrm>
            <a:off x="8693735" y="4272110"/>
            <a:ext cx="497493" cy="456091"/>
            <a:chOff x="7078515" y="609701"/>
            <a:chExt cx="1250400" cy="1250400"/>
          </a:xfrm>
        </p:grpSpPr>
        <p:sp>
          <p:nvSpPr>
            <p:cNvPr id="211" name="Google Shape;211;p31">
              <a:extLst>
                <a:ext uri="{FF2B5EF4-FFF2-40B4-BE49-F238E27FC236}">
                  <a16:creationId xmlns:a16="http://schemas.microsoft.com/office/drawing/2014/main" id="{A53B95AF-348D-CD53-71C2-70F186549B85}"/>
                </a:ext>
              </a:extLst>
            </p:cNvPr>
            <p:cNvSpPr/>
            <p:nvPr/>
          </p:nvSpPr>
          <p:spPr>
            <a:xfrm>
              <a:off x="7078515" y="609701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1">
              <a:extLst>
                <a:ext uri="{FF2B5EF4-FFF2-40B4-BE49-F238E27FC236}">
                  <a16:creationId xmlns:a16="http://schemas.microsoft.com/office/drawing/2014/main" id="{FDD474AB-A5F5-D917-2581-FA0732F9526D}"/>
                </a:ext>
              </a:extLst>
            </p:cNvPr>
            <p:cNvSpPr/>
            <p:nvPr/>
          </p:nvSpPr>
          <p:spPr>
            <a:xfrm>
              <a:off x="7385973" y="880600"/>
              <a:ext cx="635513" cy="708602"/>
            </a:xfrm>
            <a:custGeom>
              <a:avLst/>
              <a:gdLst/>
              <a:ahLst/>
              <a:cxnLst/>
              <a:rect l="l" t="t" r="r" b="b"/>
              <a:pathLst>
                <a:path w="13799" h="15386" extrusionOk="0">
                  <a:moveTo>
                    <a:pt x="6423" y="0"/>
                  </a:moveTo>
                  <a:lnTo>
                    <a:pt x="6423" y="1910"/>
                  </a:lnTo>
                  <a:lnTo>
                    <a:pt x="5402" y="887"/>
                  </a:lnTo>
                  <a:lnTo>
                    <a:pt x="4729" y="1561"/>
                  </a:lnTo>
                  <a:lnTo>
                    <a:pt x="6423" y="3255"/>
                  </a:lnTo>
                  <a:lnTo>
                    <a:pt x="6423" y="6869"/>
                  </a:lnTo>
                  <a:lnTo>
                    <a:pt x="3295" y="5062"/>
                  </a:lnTo>
                  <a:lnTo>
                    <a:pt x="2675" y="2747"/>
                  </a:lnTo>
                  <a:lnTo>
                    <a:pt x="1755" y="2993"/>
                  </a:lnTo>
                  <a:lnTo>
                    <a:pt x="2128" y="4389"/>
                  </a:lnTo>
                  <a:lnTo>
                    <a:pt x="475" y="3434"/>
                  </a:lnTo>
                  <a:lnTo>
                    <a:pt x="0" y="4258"/>
                  </a:lnTo>
                  <a:lnTo>
                    <a:pt x="1654" y="5212"/>
                  </a:lnTo>
                  <a:lnTo>
                    <a:pt x="258" y="5587"/>
                  </a:lnTo>
                  <a:lnTo>
                    <a:pt x="504" y="6506"/>
                  </a:lnTo>
                  <a:lnTo>
                    <a:pt x="2819" y="5886"/>
                  </a:lnTo>
                  <a:lnTo>
                    <a:pt x="5948" y="7693"/>
                  </a:lnTo>
                  <a:lnTo>
                    <a:pt x="2819" y="9499"/>
                  </a:lnTo>
                  <a:lnTo>
                    <a:pt x="504" y="8879"/>
                  </a:lnTo>
                  <a:lnTo>
                    <a:pt x="258" y="9798"/>
                  </a:lnTo>
                  <a:lnTo>
                    <a:pt x="1654" y="10171"/>
                  </a:lnTo>
                  <a:lnTo>
                    <a:pt x="0" y="11127"/>
                  </a:lnTo>
                  <a:lnTo>
                    <a:pt x="475" y="11951"/>
                  </a:lnTo>
                  <a:lnTo>
                    <a:pt x="2128" y="10997"/>
                  </a:lnTo>
                  <a:lnTo>
                    <a:pt x="1755" y="12392"/>
                  </a:lnTo>
                  <a:lnTo>
                    <a:pt x="2675" y="12638"/>
                  </a:lnTo>
                  <a:lnTo>
                    <a:pt x="3295" y="10323"/>
                  </a:lnTo>
                  <a:lnTo>
                    <a:pt x="6423" y="8516"/>
                  </a:lnTo>
                  <a:lnTo>
                    <a:pt x="6423" y="12130"/>
                  </a:lnTo>
                  <a:lnTo>
                    <a:pt x="4729" y="13824"/>
                  </a:lnTo>
                  <a:lnTo>
                    <a:pt x="5402" y="14496"/>
                  </a:lnTo>
                  <a:lnTo>
                    <a:pt x="6423" y="13475"/>
                  </a:lnTo>
                  <a:lnTo>
                    <a:pt x="6423" y="15385"/>
                  </a:lnTo>
                  <a:lnTo>
                    <a:pt x="7376" y="15385"/>
                  </a:lnTo>
                  <a:lnTo>
                    <a:pt x="7376" y="13475"/>
                  </a:lnTo>
                  <a:lnTo>
                    <a:pt x="8397" y="14496"/>
                  </a:lnTo>
                  <a:lnTo>
                    <a:pt x="9070" y="13824"/>
                  </a:lnTo>
                  <a:lnTo>
                    <a:pt x="7376" y="12130"/>
                  </a:lnTo>
                  <a:lnTo>
                    <a:pt x="7376" y="8516"/>
                  </a:lnTo>
                  <a:lnTo>
                    <a:pt x="10504" y="10323"/>
                  </a:lnTo>
                  <a:lnTo>
                    <a:pt x="11124" y="12638"/>
                  </a:lnTo>
                  <a:lnTo>
                    <a:pt x="12044" y="12392"/>
                  </a:lnTo>
                  <a:lnTo>
                    <a:pt x="11669" y="10997"/>
                  </a:lnTo>
                  <a:lnTo>
                    <a:pt x="13322" y="11951"/>
                  </a:lnTo>
                  <a:lnTo>
                    <a:pt x="13799" y="11127"/>
                  </a:lnTo>
                  <a:lnTo>
                    <a:pt x="12145" y="10171"/>
                  </a:lnTo>
                  <a:lnTo>
                    <a:pt x="13541" y="9798"/>
                  </a:lnTo>
                  <a:lnTo>
                    <a:pt x="13294" y="8879"/>
                  </a:lnTo>
                  <a:lnTo>
                    <a:pt x="10980" y="9499"/>
                  </a:lnTo>
                  <a:lnTo>
                    <a:pt x="7851" y="7693"/>
                  </a:lnTo>
                  <a:lnTo>
                    <a:pt x="10980" y="5886"/>
                  </a:lnTo>
                  <a:lnTo>
                    <a:pt x="13294" y="6506"/>
                  </a:lnTo>
                  <a:lnTo>
                    <a:pt x="13541" y="5587"/>
                  </a:lnTo>
                  <a:lnTo>
                    <a:pt x="12145" y="5212"/>
                  </a:lnTo>
                  <a:lnTo>
                    <a:pt x="13799" y="4258"/>
                  </a:lnTo>
                  <a:lnTo>
                    <a:pt x="13322" y="3434"/>
                  </a:lnTo>
                  <a:lnTo>
                    <a:pt x="11669" y="4389"/>
                  </a:lnTo>
                  <a:lnTo>
                    <a:pt x="12044" y="2993"/>
                  </a:lnTo>
                  <a:lnTo>
                    <a:pt x="11124" y="2747"/>
                  </a:lnTo>
                  <a:lnTo>
                    <a:pt x="10504" y="5062"/>
                  </a:lnTo>
                  <a:lnTo>
                    <a:pt x="7376" y="6867"/>
                  </a:lnTo>
                  <a:lnTo>
                    <a:pt x="7376" y="3255"/>
                  </a:lnTo>
                  <a:lnTo>
                    <a:pt x="9070" y="1561"/>
                  </a:lnTo>
                  <a:lnTo>
                    <a:pt x="8397" y="887"/>
                  </a:lnTo>
                  <a:lnTo>
                    <a:pt x="7376" y="1910"/>
                  </a:lnTo>
                  <a:lnTo>
                    <a:pt x="7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208;p31">
            <a:extLst>
              <a:ext uri="{FF2B5EF4-FFF2-40B4-BE49-F238E27FC236}">
                <a16:creationId xmlns:a16="http://schemas.microsoft.com/office/drawing/2014/main" id="{F2E37487-E2BD-09E7-768B-179359EAD2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9841" y="6208"/>
            <a:ext cx="2743200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Methodology</a:t>
            </a:r>
            <a:endParaRPr sz="3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E1A48A-557E-D023-E59E-82DC5FEA40ED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10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1F2130B-7F59-96FE-B28C-447D3796136C}"/>
              </a:ext>
            </a:extLst>
          </p:cNvPr>
          <p:cNvGrpSpPr/>
          <p:nvPr/>
        </p:nvGrpSpPr>
        <p:grpSpPr>
          <a:xfrm>
            <a:off x="46192" y="643344"/>
            <a:ext cx="8796778" cy="4146526"/>
            <a:chOff x="215755" y="909802"/>
            <a:chExt cx="8796778" cy="4146526"/>
          </a:xfrm>
        </p:grpSpPr>
        <p:pic>
          <p:nvPicPr>
            <p:cNvPr id="12" name="Picture 11" descr="A person looking out a window&#10;&#10;AI-generated content may be incorrect.">
              <a:extLst>
                <a:ext uri="{FF2B5EF4-FFF2-40B4-BE49-F238E27FC236}">
                  <a16:creationId xmlns:a16="http://schemas.microsoft.com/office/drawing/2014/main" id="{E3F50041-CCCA-B255-A798-C0F03179B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5755" y="909802"/>
              <a:ext cx="2116105" cy="3174158"/>
            </a:xfrm>
            <a:prstGeom prst="rect">
              <a:avLst/>
            </a:prstGeom>
          </p:spPr>
        </p:pic>
        <p:pic>
          <p:nvPicPr>
            <p:cNvPr id="14" name="Picture 13" descr="A cartoon of a person holding a yellow umbrella and talking on a phone&#10;&#10;AI-generated content may be incorrect.">
              <a:extLst>
                <a:ext uri="{FF2B5EF4-FFF2-40B4-BE49-F238E27FC236}">
                  <a16:creationId xmlns:a16="http://schemas.microsoft.com/office/drawing/2014/main" id="{8C230D24-4BB4-3351-A33E-7695D49F7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38375" y="909802"/>
              <a:ext cx="3174158" cy="3174158"/>
            </a:xfrm>
            <a:prstGeom prst="rect">
              <a:avLst/>
            </a:prstGeom>
          </p:spPr>
        </p:pic>
        <p:pic>
          <p:nvPicPr>
            <p:cNvPr id="16" name="Picture 15" descr="A cartoon of a person talking on a cell phone&#10;&#10;AI-generated content may be incorrect.">
              <a:extLst>
                <a:ext uri="{FF2B5EF4-FFF2-40B4-BE49-F238E27FC236}">
                  <a16:creationId xmlns:a16="http://schemas.microsoft.com/office/drawing/2014/main" id="{091CFF1E-35BC-638A-A66C-D63929F5A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58955" y="909802"/>
              <a:ext cx="2116105" cy="317415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6C12CD-9961-FAE5-E234-65D40A67DD37}"/>
                </a:ext>
              </a:extLst>
            </p:cNvPr>
            <p:cNvSpPr txBox="1"/>
            <p:nvPr/>
          </p:nvSpPr>
          <p:spPr>
            <a:xfrm>
              <a:off x="557118" y="4317664"/>
              <a:ext cx="1235348" cy="738664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IR &amp; PMW Satellite Observation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B510DED-5B1A-6B68-9C07-81CCE9B496A4}"/>
                </a:ext>
              </a:extLst>
            </p:cNvPr>
            <p:cNvSpPr txBox="1"/>
            <p:nvPr/>
          </p:nvSpPr>
          <p:spPr>
            <a:xfrm>
              <a:off x="6897603" y="4317664"/>
              <a:ext cx="1235348" cy="738664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Truthing with Ground Radar Data</a:t>
              </a: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6B59CDA5-DBE7-420B-D41C-D8F994481956}"/>
                </a:ext>
              </a:extLst>
            </p:cNvPr>
            <p:cNvSpPr/>
            <p:nvPr/>
          </p:nvSpPr>
          <p:spPr>
            <a:xfrm>
              <a:off x="2458585" y="2149748"/>
              <a:ext cx="383855" cy="24222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B531AACE-D318-E424-14C2-1C5E4B556E4A}"/>
                </a:ext>
              </a:extLst>
            </p:cNvPr>
            <p:cNvSpPr/>
            <p:nvPr/>
          </p:nvSpPr>
          <p:spPr>
            <a:xfrm>
              <a:off x="5231102" y="2149748"/>
              <a:ext cx="383855" cy="24222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958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AE95B6EC-A5BD-2068-D76A-51F64138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1">
            <a:extLst>
              <a:ext uri="{FF2B5EF4-FFF2-40B4-BE49-F238E27FC236}">
                <a16:creationId xmlns:a16="http://schemas.microsoft.com/office/drawing/2014/main" id="{75C57FB7-F00D-78C1-DAA8-A392E5EC006B}"/>
              </a:ext>
            </a:extLst>
          </p:cNvPr>
          <p:cNvGrpSpPr/>
          <p:nvPr/>
        </p:nvGrpSpPr>
        <p:grpSpPr>
          <a:xfrm>
            <a:off x="8132951" y="156933"/>
            <a:ext cx="1026377" cy="901112"/>
            <a:chOff x="6423665" y="1479376"/>
            <a:chExt cx="1250400" cy="1250400"/>
          </a:xfrm>
        </p:grpSpPr>
        <p:sp>
          <p:nvSpPr>
            <p:cNvPr id="206" name="Google Shape;206;p31">
              <a:extLst>
                <a:ext uri="{FF2B5EF4-FFF2-40B4-BE49-F238E27FC236}">
                  <a16:creationId xmlns:a16="http://schemas.microsoft.com/office/drawing/2014/main" id="{29D9DD9F-2FA3-3D8C-CE72-98A5C0CB6274}"/>
                </a:ext>
              </a:extLst>
            </p:cNvPr>
            <p:cNvSpPr/>
            <p:nvPr/>
          </p:nvSpPr>
          <p:spPr>
            <a:xfrm>
              <a:off x="6423665" y="1479376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1">
              <a:extLst>
                <a:ext uri="{FF2B5EF4-FFF2-40B4-BE49-F238E27FC236}">
                  <a16:creationId xmlns:a16="http://schemas.microsoft.com/office/drawing/2014/main" id="{0A103372-034D-63D3-E370-26986B15761B}"/>
                </a:ext>
              </a:extLst>
            </p:cNvPr>
            <p:cNvSpPr/>
            <p:nvPr/>
          </p:nvSpPr>
          <p:spPr>
            <a:xfrm>
              <a:off x="6690463" y="1750275"/>
              <a:ext cx="716837" cy="708596"/>
            </a:xfrm>
            <a:custGeom>
              <a:avLst/>
              <a:gdLst/>
              <a:ahLst/>
              <a:cxnLst/>
              <a:rect l="l" t="t" r="r" b="b"/>
              <a:pathLst>
                <a:path w="14787" h="14617" extrusionOk="0">
                  <a:moveTo>
                    <a:pt x="7393" y="951"/>
                  </a:moveTo>
                  <a:cubicBezTo>
                    <a:pt x="9294" y="951"/>
                    <a:pt x="10894" y="2373"/>
                    <a:pt x="11117" y="4257"/>
                  </a:cubicBezTo>
                  <a:lnTo>
                    <a:pt x="11167" y="4677"/>
                  </a:lnTo>
                  <a:lnTo>
                    <a:pt x="11589" y="4677"/>
                  </a:lnTo>
                  <a:cubicBezTo>
                    <a:pt x="12827" y="4677"/>
                    <a:pt x="13834" y="5684"/>
                    <a:pt x="13834" y="6921"/>
                  </a:cubicBezTo>
                  <a:cubicBezTo>
                    <a:pt x="13834" y="8158"/>
                    <a:pt x="12827" y="9166"/>
                    <a:pt x="11591" y="9166"/>
                  </a:cubicBezTo>
                  <a:lnTo>
                    <a:pt x="3197" y="9166"/>
                  </a:lnTo>
                  <a:cubicBezTo>
                    <a:pt x="1959" y="9166"/>
                    <a:pt x="952" y="8158"/>
                    <a:pt x="952" y="6921"/>
                  </a:cubicBezTo>
                  <a:cubicBezTo>
                    <a:pt x="952" y="5684"/>
                    <a:pt x="1959" y="4677"/>
                    <a:pt x="3197" y="4677"/>
                  </a:cubicBezTo>
                  <a:lnTo>
                    <a:pt x="3620" y="4677"/>
                  </a:lnTo>
                  <a:lnTo>
                    <a:pt x="3669" y="4257"/>
                  </a:lnTo>
                  <a:cubicBezTo>
                    <a:pt x="3892" y="2373"/>
                    <a:pt x="5492" y="951"/>
                    <a:pt x="7393" y="951"/>
                  </a:cubicBezTo>
                  <a:close/>
                  <a:moveTo>
                    <a:pt x="7393" y="0"/>
                  </a:moveTo>
                  <a:cubicBezTo>
                    <a:pt x="5145" y="0"/>
                    <a:pt x="3232" y="1587"/>
                    <a:pt x="2788" y="3752"/>
                  </a:cubicBezTo>
                  <a:cubicBezTo>
                    <a:pt x="1217" y="3953"/>
                    <a:pt x="1" y="5297"/>
                    <a:pt x="1" y="6922"/>
                  </a:cubicBezTo>
                  <a:cubicBezTo>
                    <a:pt x="1" y="8683"/>
                    <a:pt x="1434" y="10118"/>
                    <a:pt x="3197" y="10118"/>
                  </a:cubicBezTo>
                  <a:lnTo>
                    <a:pt x="4922" y="10118"/>
                  </a:lnTo>
                  <a:lnTo>
                    <a:pt x="4922" y="11608"/>
                  </a:lnTo>
                  <a:lnTo>
                    <a:pt x="3663" y="11608"/>
                  </a:lnTo>
                  <a:lnTo>
                    <a:pt x="3663" y="14616"/>
                  </a:lnTo>
                  <a:lnTo>
                    <a:pt x="4614" y="14616"/>
                  </a:lnTo>
                  <a:lnTo>
                    <a:pt x="4614" y="12561"/>
                  </a:lnTo>
                  <a:lnTo>
                    <a:pt x="5873" y="12561"/>
                  </a:lnTo>
                  <a:lnTo>
                    <a:pt x="5873" y="10118"/>
                  </a:lnTo>
                  <a:lnTo>
                    <a:pt x="8651" y="10118"/>
                  </a:lnTo>
                  <a:lnTo>
                    <a:pt x="8651" y="11608"/>
                  </a:lnTo>
                  <a:lnTo>
                    <a:pt x="7393" y="11608"/>
                  </a:lnTo>
                  <a:lnTo>
                    <a:pt x="7393" y="14616"/>
                  </a:lnTo>
                  <a:lnTo>
                    <a:pt x="8344" y="14616"/>
                  </a:lnTo>
                  <a:lnTo>
                    <a:pt x="8344" y="12561"/>
                  </a:lnTo>
                  <a:lnTo>
                    <a:pt x="9603" y="12561"/>
                  </a:lnTo>
                  <a:lnTo>
                    <a:pt x="9603" y="10118"/>
                  </a:lnTo>
                  <a:lnTo>
                    <a:pt x="11591" y="10118"/>
                  </a:lnTo>
                  <a:cubicBezTo>
                    <a:pt x="13353" y="10118"/>
                    <a:pt x="14787" y="8683"/>
                    <a:pt x="14787" y="6922"/>
                  </a:cubicBezTo>
                  <a:cubicBezTo>
                    <a:pt x="14787" y="5297"/>
                    <a:pt x="13569" y="3953"/>
                    <a:pt x="11999" y="3752"/>
                  </a:cubicBezTo>
                  <a:cubicBezTo>
                    <a:pt x="11556" y="1587"/>
                    <a:pt x="9641" y="0"/>
                    <a:pt x="7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31">
            <a:extLst>
              <a:ext uri="{FF2B5EF4-FFF2-40B4-BE49-F238E27FC236}">
                <a16:creationId xmlns:a16="http://schemas.microsoft.com/office/drawing/2014/main" id="{E5DE93AE-88F2-F14B-1AFC-6CFDDCDFE7C6}"/>
              </a:ext>
            </a:extLst>
          </p:cNvPr>
          <p:cNvGrpSpPr/>
          <p:nvPr/>
        </p:nvGrpSpPr>
        <p:grpSpPr>
          <a:xfrm>
            <a:off x="8437098" y="-47046"/>
            <a:ext cx="731051" cy="694843"/>
            <a:chOff x="7078515" y="609701"/>
            <a:chExt cx="1250400" cy="1250400"/>
          </a:xfrm>
        </p:grpSpPr>
        <p:sp>
          <p:nvSpPr>
            <p:cNvPr id="211" name="Google Shape;211;p31">
              <a:extLst>
                <a:ext uri="{FF2B5EF4-FFF2-40B4-BE49-F238E27FC236}">
                  <a16:creationId xmlns:a16="http://schemas.microsoft.com/office/drawing/2014/main" id="{8FE3CCBA-4512-5B8F-82CB-8C5C7D27D269}"/>
                </a:ext>
              </a:extLst>
            </p:cNvPr>
            <p:cNvSpPr/>
            <p:nvPr/>
          </p:nvSpPr>
          <p:spPr>
            <a:xfrm>
              <a:off x="7078515" y="609701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1">
              <a:extLst>
                <a:ext uri="{FF2B5EF4-FFF2-40B4-BE49-F238E27FC236}">
                  <a16:creationId xmlns:a16="http://schemas.microsoft.com/office/drawing/2014/main" id="{8B795602-830A-0AFB-2589-2E0B18E83135}"/>
                </a:ext>
              </a:extLst>
            </p:cNvPr>
            <p:cNvSpPr/>
            <p:nvPr/>
          </p:nvSpPr>
          <p:spPr>
            <a:xfrm>
              <a:off x="7385973" y="880600"/>
              <a:ext cx="635513" cy="708602"/>
            </a:xfrm>
            <a:custGeom>
              <a:avLst/>
              <a:gdLst/>
              <a:ahLst/>
              <a:cxnLst/>
              <a:rect l="l" t="t" r="r" b="b"/>
              <a:pathLst>
                <a:path w="13799" h="15386" extrusionOk="0">
                  <a:moveTo>
                    <a:pt x="6423" y="0"/>
                  </a:moveTo>
                  <a:lnTo>
                    <a:pt x="6423" y="1910"/>
                  </a:lnTo>
                  <a:lnTo>
                    <a:pt x="5402" y="887"/>
                  </a:lnTo>
                  <a:lnTo>
                    <a:pt x="4729" y="1561"/>
                  </a:lnTo>
                  <a:lnTo>
                    <a:pt x="6423" y="3255"/>
                  </a:lnTo>
                  <a:lnTo>
                    <a:pt x="6423" y="6869"/>
                  </a:lnTo>
                  <a:lnTo>
                    <a:pt x="3295" y="5062"/>
                  </a:lnTo>
                  <a:lnTo>
                    <a:pt x="2675" y="2747"/>
                  </a:lnTo>
                  <a:lnTo>
                    <a:pt x="1755" y="2993"/>
                  </a:lnTo>
                  <a:lnTo>
                    <a:pt x="2128" y="4389"/>
                  </a:lnTo>
                  <a:lnTo>
                    <a:pt x="475" y="3434"/>
                  </a:lnTo>
                  <a:lnTo>
                    <a:pt x="0" y="4258"/>
                  </a:lnTo>
                  <a:lnTo>
                    <a:pt x="1654" y="5212"/>
                  </a:lnTo>
                  <a:lnTo>
                    <a:pt x="258" y="5587"/>
                  </a:lnTo>
                  <a:lnTo>
                    <a:pt x="504" y="6506"/>
                  </a:lnTo>
                  <a:lnTo>
                    <a:pt x="2819" y="5886"/>
                  </a:lnTo>
                  <a:lnTo>
                    <a:pt x="5948" y="7693"/>
                  </a:lnTo>
                  <a:lnTo>
                    <a:pt x="2819" y="9499"/>
                  </a:lnTo>
                  <a:lnTo>
                    <a:pt x="504" y="8879"/>
                  </a:lnTo>
                  <a:lnTo>
                    <a:pt x="258" y="9798"/>
                  </a:lnTo>
                  <a:lnTo>
                    <a:pt x="1654" y="10171"/>
                  </a:lnTo>
                  <a:lnTo>
                    <a:pt x="0" y="11127"/>
                  </a:lnTo>
                  <a:lnTo>
                    <a:pt x="475" y="11951"/>
                  </a:lnTo>
                  <a:lnTo>
                    <a:pt x="2128" y="10997"/>
                  </a:lnTo>
                  <a:lnTo>
                    <a:pt x="1755" y="12392"/>
                  </a:lnTo>
                  <a:lnTo>
                    <a:pt x="2675" y="12638"/>
                  </a:lnTo>
                  <a:lnTo>
                    <a:pt x="3295" y="10323"/>
                  </a:lnTo>
                  <a:lnTo>
                    <a:pt x="6423" y="8516"/>
                  </a:lnTo>
                  <a:lnTo>
                    <a:pt x="6423" y="12130"/>
                  </a:lnTo>
                  <a:lnTo>
                    <a:pt x="4729" y="13824"/>
                  </a:lnTo>
                  <a:lnTo>
                    <a:pt x="5402" y="14496"/>
                  </a:lnTo>
                  <a:lnTo>
                    <a:pt x="6423" y="13475"/>
                  </a:lnTo>
                  <a:lnTo>
                    <a:pt x="6423" y="15385"/>
                  </a:lnTo>
                  <a:lnTo>
                    <a:pt x="7376" y="15385"/>
                  </a:lnTo>
                  <a:lnTo>
                    <a:pt x="7376" y="13475"/>
                  </a:lnTo>
                  <a:lnTo>
                    <a:pt x="8397" y="14496"/>
                  </a:lnTo>
                  <a:lnTo>
                    <a:pt x="9070" y="13824"/>
                  </a:lnTo>
                  <a:lnTo>
                    <a:pt x="7376" y="12130"/>
                  </a:lnTo>
                  <a:lnTo>
                    <a:pt x="7376" y="8516"/>
                  </a:lnTo>
                  <a:lnTo>
                    <a:pt x="10504" y="10323"/>
                  </a:lnTo>
                  <a:lnTo>
                    <a:pt x="11124" y="12638"/>
                  </a:lnTo>
                  <a:lnTo>
                    <a:pt x="12044" y="12392"/>
                  </a:lnTo>
                  <a:lnTo>
                    <a:pt x="11669" y="10997"/>
                  </a:lnTo>
                  <a:lnTo>
                    <a:pt x="13322" y="11951"/>
                  </a:lnTo>
                  <a:lnTo>
                    <a:pt x="13799" y="11127"/>
                  </a:lnTo>
                  <a:lnTo>
                    <a:pt x="12145" y="10171"/>
                  </a:lnTo>
                  <a:lnTo>
                    <a:pt x="13541" y="9798"/>
                  </a:lnTo>
                  <a:lnTo>
                    <a:pt x="13294" y="8879"/>
                  </a:lnTo>
                  <a:lnTo>
                    <a:pt x="10980" y="9499"/>
                  </a:lnTo>
                  <a:lnTo>
                    <a:pt x="7851" y="7693"/>
                  </a:lnTo>
                  <a:lnTo>
                    <a:pt x="10980" y="5886"/>
                  </a:lnTo>
                  <a:lnTo>
                    <a:pt x="13294" y="6506"/>
                  </a:lnTo>
                  <a:lnTo>
                    <a:pt x="13541" y="5587"/>
                  </a:lnTo>
                  <a:lnTo>
                    <a:pt x="12145" y="5212"/>
                  </a:lnTo>
                  <a:lnTo>
                    <a:pt x="13799" y="4258"/>
                  </a:lnTo>
                  <a:lnTo>
                    <a:pt x="13322" y="3434"/>
                  </a:lnTo>
                  <a:lnTo>
                    <a:pt x="11669" y="4389"/>
                  </a:lnTo>
                  <a:lnTo>
                    <a:pt x="12044" y="2993"/>
                  </a:lnTo>
                  <a:lnTo>
                    <a:pt x="11124" y="2747"/>
                  </a:lnTo>
                  <a:lnTo>
                    <a:pt x="10504" y="5062"/>
                  </a:lnTo>
                  <a:lnTo>
                    <a:pt x="7376" y="6867"/>
                  </a:lnTo>
                  <a:lnTo>
                    <a:pt x="7376" y="3255"/>
                  </a:lnTo>
                  <a:lnTo>
                    <a:pt x="9070" y="1561"/>
                  </a:lnTo>
                  <a:lnTo>
                    <a:pt x="8397" y="887"/>
                  </a:lnTo>
                  <a:lnTo>
                    <a:pt x="7376" y="1910"/>
                  </a:lnTo>
                  <a:lnTo>
                    <a:pt x="7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208;p31">
            <a:extLst>
              <a:ext uri="{FF2B5EF4-FFF2-40B4-BE49-F238E27FC236}">
                <a16:creationId xmlns:a16="http://schemas.microsoft.com/office/drawing/2014/main" id="{4EA64657-0ED5-E053-925D-7C2136A0D3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9816" y="434844"/>
            <a:ext cx="2743200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Methodology</a:t>
            </a:r>
            <a:endParaRPr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556062-8981-0DED-1B10-2902801F1CC2}"/>
              </a:ext>
            </a:extLst>
          </p:cNvPr>
          <p:cNvSpPr txBox="1"/>
          <p:nvPr/>
        </p:nvSpPr>
        <p:spPr>
          <a:xfrm>
            <a:off x="75879" y="4755972"/>
            <a:ext cx="1295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>
                <a:solidFill>
                  <a:srgbClr val="002060"/>
                </a:solidFill>
              </a:rPr>
              <a:t>CHEN et al.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872EC4-8940-7D4B-A1DC-CD6EE4477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581321"/>
              </p:ext>
            </p:extLst>
          </p:nvPr>
        </p:nvGraphicFramePr>
        <p:xfrm>
          <a:off x="1599967" y="1689505"/>
          <a:ext cx="6096000" cy="1778000"/>
        </p:xfrm>
        <a:graphic>
          <a:graphicData uri="http://schemas.openxmlformats.org/drawingml/2006/table">
            <a:tbl>
              <a:tblPr firstRow="1" bandRow="1">
                <a:tableStyleId>{627C9375-8E05-4F5B-8091-2306CD2534D0}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8484599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291641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43780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PMW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004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Frequency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Very frequent (every 30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Rare (every 3–6 hours)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2947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Low to 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056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What it Detects?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Cloud-top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Actual raindrops &amp; ice inside the 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2761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AEA9C35-2441-B50E-6C29-C818D74ED3F3}"/>
              </a:ext>
            </a:extLst>
          </p:cNvPr>
          <p:cNvSpPr txBox="1"/>
          <p:nvPr/>
        </p:nvSpPr>
        <p:spPr>
          <a:xfrm>
            <a:off x="1465072" y="1259652"/>
            <a:ext cx="4713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IR vs PMW Comparison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4CF09-29B9-7C1D-969E-5F0F744FAFC0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0822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32459A0E-9C2D-9A6D-6396-09E837FE3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1">
            <a:extLst>
              <a:ext uri="{FF2B5EF4-FFF2-40B4-BE49-F238E27FC236}">
                <a16:creationId xmlns:a16="http://schemas.microsoft.com/office/drawing/2014/main" id="{F3262A60-BC31-E902-DE6D-2BDA138C2191}"/>
              </a:ext>
            </a:extLst>
          </p:cNvPr>
          <p:cNvGrpSpPr/>
          <p:nvPr/>
        </p:nvGrpSpPr>
        <p:grpSpPr>
          <a:xfrm>
            <a:off x="8132951" y="156933"/>
            <a:ext cx="1026377" cy="901112"/>
            <a:chOff x="6423665" y="1479376"/>
            <a:chExt cx="1250400" cy="1250400"/>
          </a:xfrm>
        </p:grpSpPr>
        <p:sp>
          <p:nvSpPr>
            <p:cNvPr id="206" name="Google Shape;206;p31">
              <a:extLst>
                <a:ext uri="{FF2B5EF4-FFF2-40B4-BE49-F238E27FC236}">
                  <a16:creationId xmlns:a16="http://schemas.microsoft.com/office/drawing/2014/main" id="{45F89E99-5B4B-036D-E281-732E75AACFB6}"/>
                </a:ext>
              </a:extLst>
            </p:cNvPr>
            <p:cNvSpPr/>
            <p:nvPr/>
          </p:nvSpPr>
          <p:spPr>
            <a:xfrm>
              <a:off x="6423665" y="1479376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1">
              <a:extLst>
                <a:ext uri="{FF2B5EF4-FFF2-40B4-BE49-F238E27FC236}">
                  <a16:creationId xmlns:a16="http://schemas.microsoft.com/office/drawing/2014/main" id="{BBD1FAD3-828C-FD89-39DE-4347B492D5F1}"/>
                </a:ext>
              </a:extLst>
            </p:cNvPr>
            <p:cNvSpPr/>
            <p:nvPr/>
          </p:nvSpPr>
          <p:spPr>
            <a:xfrm>
              <a:off x="6690463" y="1750275"/>
              <a:ext cx="716837" cy="708596"/>
            </a:xfrm>
            <a:custGeom>
              <a:avLst/>
              <a:gdLst/>
              <a:ahLst/>
              <a:cxnLst/>
              <a:rect l="l" t="t" r="r" b="b"/>
              <a:pathLst>
                <a:path w="14787" h="14617" extrusionOk="0">
                  <a:moveTo>
                    <a:pt x="7393" y="951"/>
                  </a:moveTo>
                  <a:cubicBezTo>
                    <a:pt x="9294" y="951"/>
                    <a:pt x="10894" y="2373"/>
                    <a:pt x="11117" y="4257"/>
                  </a:cubicBezTo>
                  <a:lnTo>
                    <a:pt x="11167" y="4677"/>
                  </a:lnTo>
                  <a:lnTo>
                    <a:pt x="11589" y="4677"/>
                  </a:lnTo>
                  <a:cubicBezTo>
                    <a:pt x="12827" y="4677"/>
                    <a:pt x="13834" y="5684"/>
                    <a:pt x="13834" y="6921"/>
                  </a:cubicBezTo>
                  <a:cubicBezTo>
                    <a:pt x="13834" y="8158"/>
                    <a:pt x="12827" y="9166"/>
                    <a:pt x="11591" y="9166"/>
                  </a:cubicBezTo>
                  <a:lnTo>
                    <a:pt x="3197" y="9166"/>
                  </a:lnTo>
                  <a:cubicBezTo>
                    <a:pt x="1959" y="9166"/>
                    <a:pt x="952" y="8158"/>
                    <a:pt x="952" y="6921"/>
                  </a:cubicBezTo>
                  <a:cubicBezTo>
                    <a:pt x="952" y="5684"/>
                    <a:pt x="1959" y="4677"/>
                    <a:pt x="3197" y="4677"/>
                  </a:cubicBezTo>
                  <a:lnTo>
                    <a:pt x="3620" y="4677"/>
                  </a:lnTo>
                  <a:lnTo>
                    <a:pt x="3669" y="4257"/>
                  </a:lnTo>
                  <a:cubicBezTo>
                    <a:pt x="3892" y="2373"/>
                    <a:pt x="5492" y="951"/>
                    <a:pt x="7393" y="951"/>
                  </a:cubicBezTo>
                  <a:close/>
                  <a:moveTo>
                    <a:pt x="7393" y="0"/>
                  </a:moveTo>
                  <a:cubicBezTo>
                    <a:pt x="5145" y="0"/>
                    <a:pt x="3232" y="1587"/>
                    <a:pt x="2788" y="3752"/>
                  </a:cubicBezTo>
                  <a:cubicBezTo>
                    <a:pt x="1217" y="3953"/>
                    <a:pt x="1" y="5297"/>
                    <a:pt x="1" y="6922"/>
                  </a:cubicBezTo>
                  <a:cubicBezTo>
                    <a:pt x="1" y="8683"/>
                    <a:pt x="1434" y="10118"/>
                    <a:pt x="3197" y="10118"/>
                  </a:cubicBezTo>
                  <a:lnTo>
                    <a:pt x="4922" y="10118"/>
                  </a:lnTo>
                  <a:lnTo>
                    <a:pt x="4922" y="11608"/>
                  </a:lnTo>
                  <a:lnTo>
                    <a:pt x="3663" y="11608"/>
                  </a:lnTo>
                  <a:lnTo>
                    <a:pt x="3663" y="14616"/>
                  </a:lnTo>
                  <a:lnTo>
                    <a:pt x="4614" y="14616"/>
                  </a:lnTo>
                  <a:lnTo>
                    <a:pt x="4614" y="12561"/>
                  </a:lnTo>
                  <a:lnTo>
                    <a:pt x="5873" y="12561"/>
                  </a:lnTo>
                  <a:lnTo>
                    <a:pt x="5873" y="10118"/>
                  </a:lnTo>
                  <a:lnTo>
                    <a:pt x="8651" y="10118"/>
                  </a:lnTo>
                  <a:lnTo>
                    <a:pt x="8651" y="11608"/>
                  </a:lnTo>
                  <a:lnTo>
                    <a:pt x="7393" y="11608"/>
                  </a:lnTo>
                  <a:lnTo>
                    <a:pt x="7393" y="14616"/>
                  </a:lnTo>
                  <a:lnTo>
                    <a:pt x="8344" y="14616"/>
                  </a:lnTo>
                  <a:lnTo>
                    <a:pt x="8344" y="12561"/>
                  </a:lnTo>
                  <a:lnTo>
                    <a:pt x="9603" y="12561"/>
                  </a:lnTo>
                  <a:lnTo>
                    <a:pt x="9603" y="10118"/>
                  </a:lnTo>
                  <a:lnTo>
                    <a:pt x="11591" y="10118"/>
                  </a:lnTo>
                  <a:cubicBezTo>
                    <a:pt x="13353" y="10118"/>
                    <a:pt x="14787" y="8683"/>
                    <a:pt x="14787" y="6922"/>
                  </a:cubicBezTo>
                  <a:cubicBezTo>
                    <a:pt x="14787" y="5297"/>
                    <a:pt x="13569" y="3953"/>
                    <a:pt x="11999" y="3752"/>
                  </a:cubicBezTo>
                  <a:cubicBezTo>
                    <a:pt x="11556" y="1587"/>
                    <a:pt x="9641" y="0"/>
                    <a:pt x="7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31">
            <a:extLst>
              <a:ext uri="{FF2B5EF4-FFF2-40B4-BE49-F238E27FC236}">
                <a16:creationId xmlns:a16="http://schemas.microsoft.com/office/drawing/2014/main" id="{C4C1CE6A-C545-F864-1C5E-30424F3BA768}"/>
              </a:ext>
            </a:extLst>
          </p:cNvPr>
          <p:cNvGrpSpPr/>
          <p:nvPr/>
        </p:nvGrpSpPr>
        <p:grpSpPr>
          <a:xfrm>
            <a:off x="8437098" y="-47046"/>
            <a:ext cx="731051" cy="694843"/>
            <a:chOff x="7078515" y="609701"/>
            <a:chExt cx="1250400" cy="1250400"/>
          </a:xfrm>
        </p:grpSpPr>
        <p:sp>
          <p:nvSpPr>
            <p:cNvPr id="211" name="Google Shape;211;p31">
              <a:extLst>
                <a:ext uri="{FF2B5EF4-FFF2-40B4-BE49-F238E27FC236}">
                  <a16:creationId xmlns:a16="http://schemas.microsoft.com/office/drawing/2014/main" id="{9DE5F4AE-F139-7554-2228-3B790499E889}"/>
                </a:ext>
              </a:extLst>
            </p:cNvPr>
            <p:cNvSpPr/>
            <p:nvPr/>
          </p:nvSpPr>
          <p:spPr>
            <a:xfrm>
              <a:off x="7078515" y="609701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1">
              <a:extLst>
                <a:ext uri="{FF2B5EF4-FFF2-40B4-BE49-F238E27FC236}">
                  <a16:creationId xmlns:a16="http://schemas.microsoft.com/office/drawing/2014/main" id="{3C1A5B26-CD06-513A-F20F-EF0B4FE5C909}"/>
                </a:ext>
              </a:extLst>
            </p:cNvPr>
            <p:cNvSpPr/>
            <p:nvPr/>
          </p:nvSpPr>
          <p:spPr>
            <a:xfrm>
              <a:off x="7385973" y="880600"/>
              <a:ext cx="635513" cy="708602"/>
            </a:xfrm>
            <a:custGeom>
              <a:avLst/>
              <a:gdLst/>
              <a:ahLst/>
              <a:cxnLst/>
              <a:rect l="l" t="t" r="r" b="b"/>
              <a:pathLst>
                <a:path w="13799" h="15386" extrusionOk="0">
                  <a:moveTo>
                    <a:pt x="6423" y="0"/>
                  </a:moveTo>
                  <a:lnTo>
                    <a:pt x="6423" y="1910"/>
                  </a:lnTo>
                  <a:lnTo>
                    <a:pt x="5402" y="887"/>
                  </a:lnTo>
                  <a:lnTo>
                    <a:pt x="4729" y="1561"/>
                  </a:lnTo>
                  <a:lnTo>
                    <a:pt x="6423" y="3255"/>
                  </a:lnTo>
                  <a:lnTo>
                    <a:pt x="6423" y="6869"/>
                  </a:lnTo>
                  <a:lnTo>
                    <a:pt x="3295" y="5062"/>
                  </a:lnTo>
                  <a:lnTo>
                    <a:pt x="2675" y="2747"/>
                  </a:lnTo>
                  <a:lnTo>
                    <a:pt x="1755" y="2993"/>
                  </a:lnTo>
                  <a:lnTo>
                    <a:pt x="2128" y="4389"/>
                  </a:lnTo>
                  <a:lnTo>
                    <a:pt x="475" y="3434"/>
                  </a:lnTo>
                  <a:lnTo>
                    <a:pt x="0" y="4258"/>
                  </a:lnTo>
                  <a:lnTo>
                    <a:pt x="1654" y="5212"/>
                  </a:lnTo>
                  <a:lnTo>
                    <a:pt x="258" y="5587"/>
                  </a:lnTo>
                  <a:lnTo>
                    <a:pt x="504" y="6506"/>
                  </a:lnTo>
                  <a:lnTo>
                    <a:pt x="2819" y="5886"/>
                  </a:lnTo>
                  <a:lnTo>
                    <a:pt x="5948" y="7693"/>
                  </a:lnTo>
                  <a:lnTo>
                    <a:pt x="2819" y="9499"/>
                  </a:lnTo>
                  <a:lnTo>
                    <a:pt x="504" y="8879"/>
                  </a:lnTo>
                  <a:lnTo>
                    <a:pt x="258" y="9798"/>
                  </a:lnTo>
                  <a:lnTo>
                    <a:pt x="1654" y="10171"/>
                  </a:lnTo>
                  <a:lnTo>
                    <a:pt x="0" y="11127"/>
                  </a:lnTo>
                  <a:lnTo>
                    <a:pt x="475" y="11951"/>
                  </a:lnTo>
                  <a:lnTo>
                    <a:pt x="2128" y="10997"/>
                  </a:lnTo>
                  <a:lnTo>
                    <a:pt x="1755" y="12392"/>
                  </a:lnTo>
                  <a:lnTo>
                    <a:pt x="2675" y="12638"/>
                  </a:lnTo>
                  <a:lnTo>
                    <a:pt x="3295" y="10323"/>
                  </a:lnTo>
                  <a:lnTo>
                    <a:pt x="6423" y="8516"/>
                  </a:lnTo>
                  <a:lnTo>
                    <a:pt x="6423" y="12130"/>
                  </a:lnTo>
                  <a:lnTo>
                    <a:pt x="4729" y="13824"/>
                  </a:lnTo>
                  <a:lnTo>
                    <a:pt x="5402" y="14496"/>
                  </a:lnTo>
                  <a:lnTo>
                    <a:pt x="6423" y="13475"/>
                  </a:lnTo>
                  <a:lnTo>
                    <a:pt x="6423" y="15385"/>
                  </a:lnTo>
                  <a:lnTo>
                    <a:pt x="7376" y="15385"/>
                  </a:lnTo>
                  <a:lnTo>
                    <a:pt x="7376" y="13475"/>
                  </a:lnTo>
                  <a:lnTo>
                    <a:pt x="8397" y="14496"/>
                  </a:lnTo>
                  <a:lnTo>
                    <a:pt x="9070" y="13824"/>
                  </a:lnTo>
                  <a:lnTo>
                    <a:pt x="7376" y="12130"/>
                  </a:lnTo>
                  <a:lnTo>
                    <a:pt x="7376" y="8516"/>
                  </a:lnTo>
                  <a:lnTo>
                    <a:pt x="10504" y="10323"/>
                  </a:lnTo>
                  <a:lnTo>
                    <a:pt x="11124" y="12638"/>
                  </a:lnTo>
                  <a:lnTo>
                    <a:pt x="12044" y="12392"/>
                  </a:lnTo>
                  <a:lnTo>
                    <a:pt x="11669" y="10997"/>
                  </a:lnTo>
                  <a:lnTo>
                    <a:pt x="13322" y="11951"/>
                  </a:lnTo>
                  <a:lnTo>
                    <a:pt x="13799" y="11127"/>
                  </a:lnTo>
                  <a:lnTo>
                    <a:pt x="12145" y="10171"/>
                  </a:lnTo>
                  <a:lnTo>
                    <a:pt x="13541" y="9798"/>
                  </a:lnTo>
                  <a:lnTo>
                    <a:pt x="13294" y="8879"/>
                  </a:lnTo>
                  <a:lnTo>
                    <a:pt x="10980" y="9499"/>
                  </a:lnTo>
                  <a:lnTo>
                    <a:pt x="7851" y="7693"/>
                  </a:lnTo>
                  <a:lnTo>
                    <a:pt x="10980" y="5886"/>
                  </a:lnTo>
                  <a:lnTo>
                    <a:pt x="13294" y="6506"/>
                  </a:lnTo>
                  <a:lnTo>
                    <a:pt x="13541" y="5587"/>
                  </a:lnTo>
                  <a:lnTo>
                    <a:pt x="12145" y="5212"/>
                  </a:lnTo>
                  <a:lnTo>
                    <a:pt x="13799" y="4258"/>
                  </a:lnTo>
                  <a:lnTo>
                    <a:pt x="13322" y="3434"/>
                  </a:lnTo>
                  <a:lnTo>
                    <a:pt x="11669" y="4389"/>
                  </a:lnTo>
                  <a:lnTo>
                    <a:pt x="12044" y="2993"/>
                  </a:lnTo>
                  <a:lnTo>
                    <a:pt x="11124" y="2747"/>
                  </a:lnTo>
                  <a:lnTo>
                    <a:pt x="10504" y="5062"/>
                  </a:lnTo>
                  <a:lnTo>
                    <a:pt x="7376" y="6867"/>
                  </a:lnTo>
                  <a:lnTo>
                    <a:pt x="7376" y="3255"/>
                  </a:lnTo>
                  <a:lnTo>
                    <a:pt x="9070" y="1561"/>
                  </a:lnTo>
                  <a:lnTo>
                    <a:pt x="8397" y="887"/>
                  </a:lnTo>
                  <a:lnTo>
                    <a:pt x="7376" y="1910"/>
                  </a:lnTo>
                  <a:lnTo>
                    <a:pt x="7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208;p31">
            <a:extLst>
              <a:ext uri="{FF2B5EF4-FFF2-40B4-BE49-F238E27FC236}">
                <a16:creationId xmlns:a16="http://schemas.microsoft.com/office/drawing/2014/main" id="{09946345-98EC-3640-2512-BD30C7B3C6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9816" y="434844"/>
            <a:ext cx="2743200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Methodology</a:t>
            </a:r>
            <a:endParaRPr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322B9-B1F6-B9B9-DF8F-0C78CD62DE1B}"/>
              </a:ext>
            </a:extLst>
          </p:cNvPr>
          <p:cNvSpPr txBox="1"/>
          <p:nvPr/>
        </p:nvSpPr>
        <p:spPr>
          <a:xfrm>
            <a:off x="136265" y="4817745"/>
            <a:ext cx="1295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>
                <a:solidFill>
                  <a:srgbClr val="002060"/>
                </a:solidFill>
              </a:rPr>
              <a:t>CHEN et 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A3177-147F-0B03-9613-65BAA1B562F2}"/>
              </a:ext>
            </a:extLst>
          </p:cNvPr>
          <p:cNvSpPr txBox="1"/>
          <p:nvPr/>
        </p:nvSpPr>
        <p:spPr>
          <a:xfrm>
            <a:off x="474552" y="1223393"/>
            <a:ext cx="4713666" cy="231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/>
              <a:t>Ground Radar Network Data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/>
              <a:t>High-resolution </a:t>
            </a:r>
            <a:r>
              <a:rPr lang="en-US" sz="1200" b="1"/>
              <a:t>dual-polarization radars</a:t>
            </a:r>
            <a:r>
              <a:rPr lang="en-US" sz="1200"/>
              <a:t> </a:t>
            </a:r>
          </a:p>
          <a:p>
            <a:pPr>
              <a:lnSpc>
                <a:spcPct val="200000"/>
              </a:lnSpc>
            </a:pPr>
            <a:r>
              <a:rPr lang="en-US" sz="1100"/>
              <a:t>(X-band + S-band, DFW network)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/>
              <a:t>Provides </a:t>
            </a:r>
            <a:r>
              <a:rPr lang="en-US" sz="1200" b="1"/>
              <a:t>near-surface, minute-by-minute rainfall estimates</a:t>
            </a:r>
            <a:endParaRPr lang="en-US" sz="120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/>
              <a:t>Used as </a:t>
            </a:r>
            <a:r>
              <a:rPr lang="en-US" sz="1200" b="1"/>
              <a:t>ground-truth labels</a:t>
            </a:r>
            <a:r>
              <a:rPr lang="en-US" sz="1200"/>
              <a:t> to train the ML model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/>
              <a:t>Captures storm structure, raindrop size distribution, and intensity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CAF8D9-2D0F-AD19-F374-06CCA583A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226" y="497260"/>
            <a:ext cx="3477747" cy="39918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D94927-6DC1-AEC4-C898-BE6859CFBFFE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52824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C576480B-771E-693C-D5BE-17DFEB8A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1">
            <a:extLst>
              <a:ext uri="{FF2B5EF4-FFF2-40B4-BE49-F238E27FC236}">
                <a16:creationId xmlns:a16="http://schemas.microsoft.com/office/drawing/2014/main" id="{6DDD18DB-1856-44CA-EE1B-E8455FB1393A}"/>
              </a:ext>
            </a:extLst>
          </p:cNvPr>
          <p:cNvGrpSpPr/>
          <p:nvPr/>
        </p:nvGrpSpPr>
        <p:grpSpPr>
          <a:xfrm>
            <a:off x="8132951" y="156933"/>
            <a:ext cx="1026377" cy="901112"/>
            <a:chOff x="6423665" y="1479376"/>
            <a:chExt cx="1250400" cy="1250400"/>
          </a:xfrm>
        </p:grpSpPr>
        <p:sp>
          <p:nvSpPr>
            <p:cNvPr id="206" name="Google Shape;206;p31">
              <a:extLst>
                <a:ext uri="{FF2B5EF4-FFF2-40B4-BE49-F238E27FC236}">
                  <a16:creationId xmlns:a16="http://schemas.microsoft.com/office/drawing/2014/main" id="{C7BF4F76-D750-0769-4D06-82DED199D1F9}"/>
                </a:ext>
              </a:extLst>
            </p:cNvPr>
            <p:cNvSpPr/>
            <p:nvPr/>
          </p:nvSpPr>
          <p:spPr>
            <a:xfrm>
              <a:off x="6423665" y="1479376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1">
              <a:extLst>
                <a:ext uri="{FF2B5EF4-FFF2-40B4-BE49-F238E27FC236}">
                  <a16:creationId xmlns:a16="http://schemas.microsoft.com/office/drawing/2014/main" id="{696FB73F-E380-1E4F-8C32-56FC1532D24A}"/>
                </a:ext>
              </a:extLst>
            </p:cNvPr>
            <p:cNvSpPr/>
            <p:nvPr/>
          </p:nvSpPr>
          <p:spPr>
            <a:xfrm>
              <a:off x="6690463" y="1750275"/>
              <a:ext cx="716837" cy="708596"/>
            </a:xfrm>
            <a:custGeom>
              <a:avLst/>
              <a:gdLst/>
              <a:ahLst/>
              <a:cxnLst/>
              <a:rect l="l" t="t" r="r" b="b"/>
              <a:pathLst>
                <a:path w="14787" h="14617" extrusionOk="0">
                  <a:moveTo>
                    <a:pt x="7393" y="951"/>
                  </a:moveTo>
                  <a:cubicBezTo>
                    <a:pt x="9294" y="951"/>
                    <a:pt x="10894" y="2373"/>
                    <a:pt x="11117" y="4257"/>
                  </a:cubicBezTo>
                  <a:lnTo>
                    <a:pt x="11167" y="4677"/>
                  </a:lnTo>
                  <a:lnTo>
                    <a:pt x="11589" y="4677"/>
                  </a:lnTo>
                  <a:cubicBezTo>
                    <a:pt x="12827" y="4677"/>
                    <a:pt x="13834" y="5684"/>
                    <a:pt x="13834" y="6921"/>
                  </a:cubicBezTo>
                  <a:cubicBezTo>
                    <a:pt x="13834" y="8158"/>
                    <a:pt x="12827" y="9166"/>
                    <a:pt x="11591" y="9166"/>
                  </a:cubicBezTo>
                  <a:lnTo>
                    <a:pt x="3197" y="9166"/>
                  </a:lnTo>
                  <a:cubicBezTo>
                    <a:pt x="1959" y="9166"/>
                    <a:pt x="952" y="8158"/>
                    <a:pt x="952" y="6921"/>
                  </a:cubicBezTo>
                  <a:cubicBezTo>
                    <a:pt x="952" y="5684"/>
                    <a:pt x="1959" y="4677"/>
                    <a:pt x="3197" y="4677"/>
                  </a:cubicBezTo>
                  <a:lnTo>
                    <a:pt x="3620" y="4677"/>
                  </a:lnTo>
                  <a:lnTo>
                    <a:pt x="3669" y="4257"/>
                  </a:lnTo>
                  <a:cubicBezTo>
                    <a:pt x="3892" y="2373"/>
                    <a:pt x="5492" y="951"/>
                    <a:pt x="7393" y="951"/>
                  </a:cubicBezTo>
                  <a:close/>
                  <a:moveTo>
                    <a:pt x="7393" y="0"/>
                  </a:moveTo>
                  <a:cubicBezTo>
                    <a:pt x="5145" y="0"/>
                    <a:pt x="3232" y="1587"/>
                    <a:pt x="2788" y="3752"/>
                  </a:cubicBezTo>
                  <a:cubicBezTo>
                    <a:pt x="1217" y="3953"/>
                    <a:pt x="1" y="5297"/>
                    <a:pt x="1" y="6922"/>
                  </a:cubicBezTo>
                  <a:cubicBezTo>
                    <a:pt x="1" y="8683"/>
                    <a:pt x="1434" y="10118"/>
                    <a:pt x="3197" y="10118"/>
                  </a:cubicBezTo>
                  <a:lnTo>
                    <a:pt x="4922" y="10118"/>
                  </a:lnTo>
                  <a:lnTo>
                    <a:pt x="4922" y="11608"/>
                  </a:lnTo>
                  <a:lnTo>
                    <a:pt x="3663" y="11608"/>
                  </a:lnTo>
                  <a:lnTo>
                    <a:pt x="3663" y="14616"/>
                  </a:lnTo>
                  <a:lnTo>
                    <a:pt x="4614" y="14616"/>
                  </a:lnTo>
                  <a:lnTo>
                    <a:pt x="4614" y="12561"/>
                  </a:lnTo>
                  <a:lnTo>
                    <a:pt x="5873" y="12561"/>
                  </a:lnTo>
                  <a:lnTo>
                    <a:pt x="5873" y="10118"/>
                  </a:lnTo>
                  <a:lnTo>
                    <a:pt x="8651" y="10118"/>
                  </a:lnTo>
                  <a:lnTo>
                    <a:pt x="8651" y="11608"/>
                  </a:lnTo>
                  <a:lnTo>
                    <a:pt x="7393" y="11608"/>
                  </a:lnTo>
                  <a:lnTo>
                    <a:pt x="7393" y="14616"/>
                  </a:lnTo>
                  <a:lnTo>
                    <a:pt x="8344" y="14616"/>
                  </a:lnTo>
                  <a:lnTo>
                    <a:pt x="8344" y="12561"/>
                  </a:lnTo>
                  <a:lnTo>
                    <a:pt x="9603" y="12561"/>
                  </a:lnTo>
                  <a:lnTo>
                    <a:pt x="9603" y="10118"/>
                  </a:lnTo>
                  <a:lnTo>
                    <a:pt x="11591" y="10118"/>
                  </a:lnTo>
                  <a:cubicBezTo>
                    <a:pt x="13353" y="10118"/>
                    <a:pt x="14787" y="8683"/>
                    <a:pt x="14787" y="6922"/>
                  </a:cubicBezTo>
                  <a:cubicBezTo>
                    <a:pt x="14787" y="5297"/>
                    <a:pt x="13569" y="3953"/>
                    <a:pt x="11999" y="3752"/>
                  </a:cubicBezTo>
                  <a:cubicBezTo>
                    <a:pt x="11556" y="1587"/>
                    <a:pt x="9641" y="0"/>
                    <a:pt x="7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31">
            <a:extLst>
              <a:ext uri="{FF2B5EF4-FFF2-40B4-BE49-F238E27FC236}">
                <a16:creationId xmlns:a16="http://schemas.microsoft.com/office/drawing/2014/main" id="{EE3648A3-DF5E-CE9C-BD1A-6D2866E4355D}"/>
              </a:ext>
            </a:extLst>
          </p:cNvPr>
          <p:cNvGrpSpPr/>
          <p:nvPr/>
        </p:nvGrpSpPr>
        <p:grpSpPr>
          <a:xfrm>
            <a:off x="8437098" y="-47046"/>
            <a:ext cx="731051" cy="694843"/>
            <a:chOff x="7078515" y="609701"/>
            <a:chExt cx="1250400" cy="1250400"/>
          </a:xfrm>
        </p:grpSpPr>
        <p:sp>
          <p:nvSpPr>
            <p:cNvPr id="211" name="Google Shape;211;p31">
              <a:extLst>
                <a:ext uri="{FF2B5EF4-FFF2-40B4-BE49-F238E27FC236}">
                  <a16:creationId xmlns:a16="http://schemas.microsoft.com/office/drawing/2014/main" id="{D8746349-90DA-DB49-1991-E1E4A321F609}"/>
                </a:ext>
              </a:extLst>
            </p:cNvPr>
            <p:cNvSpPr/>
            <p:nvPr/>
          </p:nvSpPr>
          <p:spPr>
            <a:xfrm>
              <a:off x="7078515" y="609701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1">
              <a:extLst>
                <a:ext uri="{FF2B5EF4-FFF2-40B4-BE49-F238E27FC236}">
                  <a16:creationId xmlns:a16="http://schemas.microsoft.com/office/drawing/2014/main" id="{4AD32659-216F-31F0-D810-5A1F149639CD}"/>
                </a:ext>
              </a:extLst>
            </p:cNvPr>
            <p:cNvSpPr/>
            <p:nvPr/>
          </p:nvSpPr>
          <p:spPr>
            <a:xfrm>
              <a:off x="7385973" y="880600"/>
              <a:ext cx="635513" cy="708602"/>
            </a:xfrm>
            <a:custGeom>
              <a:avLst/>
              <a:gdLst/>
              <a:ahLst/>
              <a:cxnLst/>
              <a:rect l="l" t="t" r="r" b="b"/>
              <a:pathLst>
                <a:path w="13799" h="15386" extrusionOk="0">
                  <a:moveTo>
                    <a:pt x="6423" y="0"/>
                  </a:moveTo>
                  <a:lnTo>
                    <a:pt x="6423" y="1910"/>
                  </a:lnTo>
                  <a:lnTo>
                    <a:pt x="5402" y="887"/>
                  </a:lnTo>
                  <a:lnTo>
                    <a:pt x="4729" y="1561"/>
                  </a:lnTo>
                  <a:lnTo>
                    <a:pt x="6423" y="3255"/>
                  </a:lnTo>
                  <a:lnTo>
                    <a:pt x="6423" y="6869"/>
                  </a:lnTo>
                  <a:lnTo>
                    <a:pt x="3295" y="5062"/>
                  </a:lnTo>
                  <a:lnTo>
                    <a:pt x="2675" y="2747"/>
                  </a:lnTo>
                  <a:lnTo>
                    <a:pt x="1755" y="2993"/>
                  </a:lnTo>
                  <a:lnTo>
                    <a:pt x="2128" y="4389"/>
                  </a:lnTo>
                  <a:lnTo>
                    <a:pt x="475" y="3434"/>
                  </a:lnTo>
                  <a:lnTo>
                    <a:pt x="0" y="4258"/>
                  </a:lnTo>
                  <a:lnTo>
                    <a:pt x="1654" y="5212"/>
                  </a:lnTo>
                  <a:lnTo>
                    <a:pt x="258" y="5587"/>
                  </a:lnTo>
                  <a:lnTo>
                    <a:pt x="504" y="6506"/>
                  </a:lnTo>
                  <a:lnTo>
                    <a:pt x="2819" y="5886"/>
                  </a:lnTo>
                  <a:lnTo>
                    <a:pt x="5948" y="7693"/>
                  </a:lnTo>
                  <a:lnTo>
                    <a:pt x="2819" y="9499"/>
                  </a:lnTo>
                  <a:lnTo>
                    <a:pt x="504" y="8879"/>
                  </a:lnTo>
                  <a:lnTo>
                    <a:pt x="258" y="9798"/>
                  </a:lnTo>
                  <a:lnTo>
                    <a:pt x="1654" y="10171"/>
                  </a:lnTo>
                  <a:lnTo>
                    <a:pt x="0" y="11127"/>
                  </a:lnTo>
                  <a:lnTo>
                    <a:pt x="475" y="11951"/>
                  </a:lnTo>
                  <a:lnTo>
                    <a:pt x="2128" y="10997"/>
                  </a:lnTo>
                  <a:lnTo>
                    <a:pt x="1755" y="12392"/>
                  </a:lnTo>
                  <a:lnTo>
                    <a:pt x="2675" y="12638"/>
                  </a:lnTo>
                  <a:lnTo>
                    <a:pt x="3295" y="10323"/>
                  </a:lnTo>
                  <a:lnTo>
                    <a:pt x="6423" y="8516"/>
                  </a:lnTo>
                  <a:lnTo>
                    <a:pt x="6423" y="12130"/>
                  </a:lnTo>
                  <a:lnTo>
                    <a:pt x="4729" y="13824"/>
                  </a:lnTo>
                  <a:lnTo>
                    <a:pt x="5402" y="14496"/>
                  </a:lnTo>
                  <a:lnTo>
                    <a:pt x="6423" y="13475"/>
                  </a:lnTo>
                  <a:lnTo>
                    <a:pt x="6423" y="15385"/>
                  </a:lnTo>
                  <a:lnTo>
                    <a:pt x="7376" y="15385"/>
                  </a:lnTo>
                  <a:lnTo>
                    <a:pt x="7376" y="13475"/>
                  </a:lnTo>
                  <a:lnTo>
                    <a:pt x="8397" y="14496"/>
                  </a:lnTo>
                  <a:lnTo>
                    <a:pt x="9070" y="13824"/>
                  </a:lnTo>
                  <a:lnTo>
                    <a:pt x="7376" y="12130"/>
                  </a:lnTo>
                  <a:lnTo>
                    <a:pt x="7376" y="8516"/>
                  </a:lnTo>
                  <a:lnTo>
                    <a:pt x="10504" y="10323"/>
                  </a:lnTo>
                  <a:lnTo>
                    <a:pt x="11124" y="12638"/>
                  </a:lnTo>
                  <a:lnTo>
                    <a:pt x="12044" y="12392"/>
                  </a:lnTo>
                  <a:lnTo>
                    <a:pt x="11669" y="10997"/>
                  </a:lnTo>
                  <a:lnTo>
                    <a:pt x="13322" y="11951"/>
                  </a:lnTo>
                  <a:lnTo>
                    <a:pt x="13799" y="11127"/>
                  </a:lnTo>
                  <a:lnTo>
                    <a:pt x="12145" y="10171"/>
                  </a:lnTo>
                  <a:lnTo>
                    <a:pt x="13541" y="9798"/>
                  </a:lnTo>
                  <a:lnTo>
                    <a:pt x="13294" y="8879"/>
                  </a:lnTo>
                  <a:lnTo>
                    <a:pt x="10980" y="9499"/>
                  </a:lnTo>
                  <a:lnTo>
                    <a:pt x="7851" y="7693"/>
                  </a:lnTo>
                  <a:lnTo>
                    <a:pt x="10980" y="5886"/>
                  </a:lnTo>
                  <a:lnTo>
                    <a:pt x="13294" y="6506"/>
                  </a:lnTo>
                  <a:lnTo>
                    <a:pt x="13541" y="5587"/>
                  </a:lnTo>
                  <a:lnTo>
                    <a:pt x="12145" y="5212"/>
                  </a:lnTo>
                  <a:lnTo>
                    <a:pt x="13799" y="4258"/>
                  </a:lnTo>
                  <a:lnTo>
                    <a:pt x="13322" y="3434"/>
                  </a:lnTo>
                  <a:lnTo>
                    <a:pt x="11669" y="4389"/>
                  </a:lnTo>
                  <a:lnTo>
                    <a:pt x="12044" y="2993"/>
                  </a:lnTo>
                  <a:lnTo>
                    <a:pt x="11124" y="2747"/>
                  </a:lnTo>
                  <a:lnTo>
                    <a:pt x="10504" y="5062"/>
                  </a:lnTo>
                  <a:lnTo>
                    <a:pt x="7376" y="6867"/>
                  </a:lnTo>
                  <a:lnTo>
                    <a:pt x="7376" y="3255"/>
                  </a:lnTo>
                  <a:lnTo>
                    <a:pt x="9070" y="1561"/>
                  </a:lnTo>
                  <a:lnTo>
                    <a:pt x="8397" y="887"/>
                  </a:lnTo>
                  <a:lnTo>
                    <a:pt x="7376" y="1910"/>
                  </a:lnTo>
                  <a:lnTo>
                    <a:pt x="7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208;p31">
            <a:extLst>
              <a:ext uri="{FF2B5EF4-FFF2-40B4-BE49-F238E27FC236}">
                <a16:creationId xmlns:a16="http://schemas.microsoft.com/office/drawing/2014/main" id="{86C82B7F-6647-6B2F-6AD2-2AE7715A87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48" y="180500"/>
            <a:ext cx="2743200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Methodology</a:t>
            </a:r>
            <a:endParaRPr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76006B-DD31-5CC5-2CFC-1CA58715BB3C}"/>
              </a:ext>
            </a:extLst>
          </p:cNvPr>
          <p:cNvSpPr txBox="1"/>
          <p:nvPr/>
        </p:nvSpPr>
        <p:spPr>
          <a:xfrm>
            <a:off x="6904426" y="370210"/>
            <a:ext cx="1295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rgbClr val="002060"/>
                </a:solidFill>
              </a:rPr>
              <a:t>CHEN et al.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8078B-0A98-C14E-4CDC-2F63A10B2EB1}"/>
              </a:ext>
            </a:extLst>
          </p:cNvPr>
          <p:cNvSpPr txBox="1"/>
          <p:nvPr/>
        </p:nvSpPr>
        <p:spPr>
          <a:xfrm>
            <a:off x="2492533" y="4482268"/>
            <a:ext cx="4713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/>
              <a:t>*Upscaling = making things more coarse (less detailed)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264288-8A39-1CF6-60FE-596E3FD5C955}"/>
              </a:ext>
            </a:extLst>
          </p:cNvPr>
          <p:cNvSpPr txBox="1"/>
          <p:nvPr/>
        </p:nvSpPr>
        <p:spPr>
          <a:xfrm>
            <a:off x="349934" y="1477254"/>
            <a:ext cx="2870054" cy="2766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 b="1"/>
              <a:t>Everything have to match PMW spatial resolution: 8 km × 8 km</a:t>
            </a:r>
            <a:r>
              <a:rPr lang="en-US" sz="1200"/>
              <a:t>.</a:t>
            </a:r>
          </a:p>
          <a:p>
            <a:pPr>
              <a:buNone/>
            </a:pPr>
            <a:endParaRPr lang="en-US" sz="1200"/>
          </a:p>
          <a:p>
            <a:pPr>
              <a:lnSpc>
                <a:spcPct val="150000"/>
              </a:lnSpc>
              <a:buNone/>
            </a:pPr>
            <a:r>
              <a:rPr lang="en-US" sz="1200" b="1"/>
              <a:t>📌 Radar (250 m → 8 km) </a:t>
            </a:r>
          </a:p>
          <a:p>
            <a:pPr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200" b="1"/>
              <a:t>(1 min  → 30 min) (Upscaling)</a:t>
            </a:r>
            <a:endParaRPr lang="en-US" sz="1200"/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1200" b="1"/>
              <a:t>📌 IR (4 km → 8 km) (30 min→ 30 min) (Upscaling)</a:t>
            </a:r>
            <a:r>
              <a:rPr lang="en-US" sz="1200"/>
              <a:t> </a:t>
            </a:r>
          </a:p>
          <a:p>
            <a:pPr>
              <a:lnSpc>
                <a:spcPct val="150000"/>
              </a:lnSpc>
            </a:pPr>
            <a:r>
              <a:rPr lang="en-US" sz="1200" b="1"/>
              <a:t>📌 PMW (already 8 km) No change</a:t>
            </a:r>
          </a:p>
          <a:p>
            <a:pPr>
              <a:lnSpc>
                <a:spcPct val="150000"/>
              </a:lnSpc>
            </a:pPr>
            <a:r>
              <a:rPr lang="en-US" sz="1200" b="1"/>
              <a:t>(3hour→ → → 30 min)</a:t>
            </a:r>
            <a:endParaRPr lang="en-US"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CC8E6B-2F7A-C7F1-2E40-47AD61428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48" y="704282"/>
            <a:ext cx="5398194" cy="34258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F281E3-8427-2C93-2B2A-28E8B3C75476}"/>
              </a:ext>
            </a:extLst>
          </p:cNvPr>
          <p:cNvSpPr txBox="1"/>
          <p:nvPr/>
        </p:nvSpPr>
        <p:spPr>
          <a:xfrm>
            <a:off x="297148" y="834833"/>
            <a:ext cx="5098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Preprocessing and Data</a:t>
            </a:r>
          </a:p>
          <a:p>
            <a:r>
              <a:rPr lang="en-US" sz="1800" b="1"/>
              <a:t>Fusion</a:t>
            </a:r>
            <a:endParaRPr lang="en-US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F05DC-9B57-B654-8036-D102066EBD4D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63065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5E014E33-4A4C-B78B-7B5E-291C21E49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1">
            <a:extLst>
              <a:ext uri="{FF2B5EF4-FFF2-40B4-BE49-F238E27FC236}">
                <a16:creationId xmlns:a16="http://schemas.microsoft.com/office/drawing/2014/main" id="{C8006276-B910-90CE-4EC6-8B49000CE186}"/>
              </a:ext>
            </a:extLst>
          </p:cNvPr>
          <p:cNvGrpSpPr/>
          <p:nvPr/>
        </p:nvGrpSpPr>
        <p:grpSpPr>
          <a:xfrm>
            <a:off x="7273917" y="-50388"/>
            <a:ext cx="731051" cy="751627"/>
            <a:chOff x="6423665" y="1479376"/>
            <a:chExt cx="1250400" cy="1250400"/>
          </a:xfrm>
        </p:grpSpPr>
        <p:sp>
          <p:nvSpPr>
            <p:cNvPr id="206" name="Google Shape;206;p31">
              <a:extLst>
                <a:ext uri="{FF2B5EF4-FFF2-40B4-BE49-F238E27FC236}">
                  <a16:creationId xmlns:a16="http://schemas.microsoft.com/office/drawing/2014/main" id="{BBBDD4A0-B1CC-D318-31A9-C2E4870FF1E1}"/>
                </a:ext>
              </a:extLst>
            </p:cNvPr>
            <p:cNvSpPr/>
            <p:nvPr/>
          </p:nvSpPr>
          <p:spPr>
            <a:xfrm>
              <a:off x="6423665" y="1479376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1">
              <a:extLst>
                <a:ext uri="{FF2B5EF4-FFF2-40B4-BE49-F238E27FC236}">
                  <a16:creationId xmlns:a16="http://schemas.microsoft.com/office/drawing/2014/main" id="{0AA58264-14FF-7376-3C10-05D6D5E52F33}"/>
                </a:ext>
              </a:extLst>
            </p:cNvPr>
            <p:cNvSpPr/>
            <p:nvPr/>
          </p:nvSpPr>
          <p:spPr>
            <a:xfrm>
              <a:off x="6690463" y="1750275"/>
              <a:ext cx="716837" cy="708596"/>
            </a:xfrm>
            <a:custGeom>
              <a:avLst/>
              <a:gdLst/>
              <a:ahLst/>
              <a:cxnLst/>
              <a:rect l="l" t="t" r="r" b="b"/>
              <a:pathLst>
                <a:path w="14787" h="14617" extrusionOk="0">
                  <a:moveTo>
                    <a:pt x="7393" y="951"/>
                  </a:moveTo>
                  <a:cubicBezTo>
                    <a:pt x="9294" y="951"/>
                    <a:pt x="10894" y="2373"/>
                    <a:pt x="11117" y="4257"/>
                  </a:cubicBezTo>
                  <a:lnTo>
                    <a:pt x="11167" y="4677"/>
                  </a:lnTo>
                  <a:lnTo>
                    <a:pt x="11589" y="4677"/>
                  </a:lnTo>
                  <a:cubicBezTo>
                    <a:pt x="12827" y="4677"/>
                    <a:pt x="13834" y="5684"/>
                    <a:pt x="13834" y="6921"/>
                  </a:cubicBezTo>
                  <a:cubicBezTo>
                    <a:pt x="13834" y="8158"/>
                    <a:pt x="12827" y="9166"/>
                    <a:pt x="11591" y="9166"/>
                  </a:cubicBezTo>
                  <a:lnTo>
                    <a:pt x="3197" y="9166"/>
                  </a:lnTo>
                  <a:cubicBezTo>
                    <a:pt x="1959" y="9166"/>
                    <a:pt x="952" y="8158"/>
                    <a:pt x="952" y="6921"/>
                  </a:cubicBezTo>
                  <a:cubicBezTo>
                    <a:pt x="952" y="5684"/>
                    <a:pt x="1959" y="4677"/>
                    <a:pt x="3197" y="4677"/>
                  </a:cubicBezTo>
                  <a:lnTo>
                    <a:pt x="3620" y="4677"/>
                  </a:lnTo>
                  <a:lnTo>
                    <a:pt x="3669" y="4257"/>
                  </a:lnTo>
                  <a:cubicBezTo>
                    <a:pt x="3892" y="2373"/>
                    <a:pt x="5492" y="951"/>
                    <a:pt x="7393" y="951"/>
                  </a:cubicBezTo>
                  <a:close/>
                  <a:moveTo>
                    <a:pt x="7393" y="0"/>
                  </a:moveTo>
                  <a:cubicBezTo>
                    <a:pt x="5145" y="0"/>
                    <a:pt x="3232" y="1587"/>
                    <a:pt x="2788" y="3752"/>
                  </a:cubicBezTo>
                  <a:cubicBezTo>
                    <a:pt x="1217" y="3953"/>
                    <a:pt x="1" y="5297"/>
                    <a:pt x="1" y="6922"/>
                  </a:cubicBezTo>
                  <a:cubicBezTo>
                    <a:pt x="1" y="8683"/>
                    <a:pt x="1434" y="10118"/>
                    <a:pt x="3197" y="10118"/>
                  </a:cubicBezTo>
                  <a:lnTo>
                    <a:pt x="4922" y="10118"/>
                  </a:lnTo>
                  <a:lnTo>
                    <a:pt x="4922" y="11608"/>
                  </a:lnTo>
                  <a:lnTo>
                    <a:pt x="3663" y="11608"/>
                  </a:lnTo>
                  <a:lnTo>
                    <a:pt x="3663" y="14616"/>
                  </a:lnTo>
                  <a:lnTo>
                    <a:pt x="4614" y="14616"/>
                  </a:lnTo>
                  <a:lnTo>
                    <a:pt x="4614" y="12561"/>
                  </a:lnTo>
                  <a:lnTo>
                    <a:pt x="5873" y="12561"/>
                  </a:lnTo>
                  <a:lnTo>
                    <a:pt x="5873" y="10118"/>
                  </a:lnTo>
                  <a:lnTo>
                    <a:pt x="8651" y="10118"/>
                  </a:lnTo>
                  <a:lnTo>
                    <a:pt x="8651" y="11608"/>
                  </a:lnTo>
                  <a:lnTo>
                    <a:pt x="7393" y="11608"/>
                  </a:lnTo>
                  <a:lnTo>
                    <a:pt x="7393" y="14616"/>
                  </a:lnTo>
                  <a:lnTo>
                    <a:pt x="8344" y="14616"/>
                  </a:lnTo>
                  <a:lnTo>
                    <a:pt x="8344" y="12561"/>
                  </a:lnTo>
                  <a:lnTo>
                    <a:pt x="9603" y="12561"/>
                  </a:lnTo>
                  <a:lnTo>
                    <a:pt x="9603" y="10118"/>
                  </a:lnTo>
                  <a:lnTo>
                    <a:pt x="11591" y="10118"/>
                  </a:lnTo>
                  <a:cubicBezTo>
                    <a:pt x="13353" y="10118"/>
                    <a:pt x="14787" y="8683"/>
                    <a:pt x="14787" y="6922"/>
                  </a:cubicBezTo>
                  <a:cubicBezTo>
                    <a:pt x="14787" y="5297"/>
                    <a:pt x="13569" y="3953"/>
                    <a:pt x="11999" y="3752"/>
                  </a:cubicBezTo>
                  <a:cubicBezTo>
                    <a:pt x="11556" y="1587"/>
                    <a:pt x="9641" y="0"/>
                    <a:pt x="7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31">
            <a:extLst>
              <a:ext uri="{FF2B5EF4-FFF2-40B4-BE49-F238E27FC236}">
                <a16:creationId xmlns:a16="http://schemas.microsoft.com/office/drawing/2014/main" id="{23935C0E-75D4-5CB3-8AA6-1947C8E28E9B}"/>
              </a:ext>
            </a:extLst>
          </p:cNvPr>
          <p:cNvGrpSpPr/>
          <p:nvPr/>
        </p:nvGrpSpPr>
        <p:grpSpPr>
          <a:xfrm>
            <a:off x="8280615" y="156933"/>
            <a:ext cx="731051" cy="694843"/>
            <a:chOff x="7078515" y="609701"/>
            <a:chExt cx="1250400" cy="1250400"/>
          </a:xfrm>
        </p:grpSpPr>
        <p:sp>
          <p:nvSpPr>
            <p:cNvPr id="211" name="Google Shape;211;p31">
              <a:extLst>
                <a:ext uri="{FF2B5EF4-FFF2-40B4-BE49-F238E27FC236}">
                  <a16:creationId xmlns:a16="http://schemas.microsoft.com/office/drawing/2014/main" id="{910B85E6-B629-8FE8-6B0E-A4C0A987ACD0}"/>
                </a:ext>
              </a:extLst>
            </p:cNvPr>
            <p:cNvSpPr/>
            <p:nvPr/>
          </p:nvSpPr>
          <p:spPr>
            <a:xfrm>
              <a:off x="7078515" y="609701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1">
              <a:extLst>
                <a:ext uri="{FF2B5EF4-FFF2-40B4-BE49-F238E27FC236}">
                  <a16:creationId xmlns:a16="http://schemas.microsoft.com/office/drawing/2014/main" id="{29C53480-73EB-99C7-66AC-942387B555E4}"/>
                </a:ext>
              </a:extLst>
            </p:cNvPr>
            <p:cNvSpPr/>
            <p:nvPr/>
          </p:nvSpPr>
          <p:spPr>
            <a:xfrm>
              <a:off x="7385973" y="880600"/>
              <a:ext cx="635513" cy="708602"/>
            </a:xfrm>
            <a:custGeom>
              <a:avLst/>
              <a:gdLst/>
              <a:ahLst/>
              <a:cxnLst/>
              <a:rect l="l" t="t" r="r" b="b"/>
              <a:pathLst>
                <a:path w="13799" h="15386" extrusionOk="0">
                  <a:moveTo>
                    <a:pt x="6423" y="0"/>
                  </a:moveTo>
                  <a:lnTo>
                    <a:pt x="6423" y="1910"/>
                  </a:lnTo>
                  <a:lnTo>
                    <a:pt x="5402" y="887"/>
                  </a:lnTo>
                  <a:lnTo>
                    <a:pt x="4729" y="1561"/>
                  </a:lnTo>
                  <a:lnTo>
                    <a:pt x="6423" y="3255"/>
                  </a:lnTo>
                  <a:lnTo>
                    <a:pt x="6423" y="6869"/>
                  </a:lnTo>
                  <a:lnTo>
                    <a:pt x="3295" y="5062"/>
                  </a:lnTo>
                  <a:lnTo>
                    <a:pt x="2675" y="2747"/>
                  </a:lnTo>
                  <a:lnTo>
                    <a:pt x="1755" y="2993"/>
                  </a:lnTo>
                  <a:lnTo>
                    <a:pt x="2128" y="4389"/>
                  </a:lnTo>
                  <a:lnTo>
                    <a:pt x="475" y="3434"/>
                  </a:lnTo>
                  <a:lnTo>
                    <a:pt x="0" y="4258"/>
                  </a:lnTo>
                  <a:lnTo>
                    <a:pt x="1654" y="5212"/>
                  </a:lnTo>
                  <a:lnTo>
                    <a:pt x="258" y="5587"/>
                  </a:lnTo>
                  <a:lnTo>
                    <a:pt x="504" y="6506"/>
                  </a:lnTo>
                  <a:lnTo>
                    <a:pt x="2819" y="5886"/>
                  </a:lnTo>
                  <a:lnTo>
                    <a:pt x="5948" y="7693"/>
                  </a:lnTo>
                  <a:lnTo>
                    <a:pt x="2819" y="9499"/>
                  </a:lnTo>
                  <a:lnTo>
                    <a:pt x="504" y="8879"/>
                  </a:lnTo>
                  <a:lnTo>
                    <a:pt x="258" y="9798"/>
                  </a:lnTo>
                  <a:lnTo>
                    <a:pt x="1654" y="10171"/>
                  </a:lnTo>
                  <a:lnTo>
                    <a:pt x="0" y="11127"/>
                  </a:lnTo>
                  <a:lnTo>
                    <a:pt x="475" y="11951"/>
                  </a:lnTo>
                  <a:lnTo>
                    <a:pt x="2128" y="10997"/>
                  </a:lnTo>
                  <a:lnTo>
                    <a:pt x="1755" y="12392"/>
                  </a:lnTo>
                  <a:lnTo>
                    <a:pt x="2675" y="12638"/>
                  </a:lnTo>
                  <a:lnTo>
                    <a:pt x="3295" y="10323"/>
                  </a:lnTo>
                  <a:lnTo>
                    <a:pt x="6423" y="8516"/>
                  </a:lnTo>
                  <a:lnTo>
                    <a:pt x="6423" y="12130"/>
                  </a:lnTo>
                  <a:lnTo>
                    <a:pt x="4729" y="13824"/>
                  </a:lnTo>
                  <a:lnTo>
                    <a:pt x="5402" y="14496"/>
                  </a:lnTo>
                  <a:lnTo>
                    <a:pt x="6423" y="13475"/>
                  </a:lnTo>
                  <a:lnTo>
                    <a:pt x="6423" y="15385"/>
                  </a:lnTo>
                  <a:lnTo>
                    <a:pt x="7376" y="15385"/>
                  </a:lnTo>
                  <a:lnTo>
                    <a:pt x="7376" y="13475"/>
                  </a:lnTo>
                  <a:lnTo>
                    <a:pt x="8397" y="14496"/>
                  </a:lnTo>
                  <a:lnTo>
                    <a:pt x="9070" y="13824"/>
                  </a:lnTo>
                  <a:lnTo>
                    <a:pt x="7376" y="12130"/>
                  </a:lnTo>
                  <a:lnTo>
                    <a:pt x="7376" y="8516"/>
                  </a:lnTo>
                  <a:lnTo>
                    <a:pt x="10504" y="10323"/>
                  </a:lnTo>
                  <a:lnTo>
                    <a:pt x="11124" y="12638"/>
                  </a:lnTo>
                  <a:lnTo>
                    <a:pt x="12044" y="12392"/>
                  </a:lnTo>
                  <a:lnTo>
                    <a:pt x="11669" y="10997"/>
                  </a:lnTo>
                  <a:lnTo>
                    <a:pt x="13322" y="11951"/>
                  </a:lnTo>
                  <a:lnTo>
                    <a:pt x="13799" y="11127"/>
                  </a:lnTo>
                  <a:lnTo>
                    <a:pt x="12145" y="10171"/>
                  </a:lnTo>
                  <a:lnTo>
                    <a:pt x="13541" y="9798"/>
                  </a:lnTo>
                  <a:lnTo>
                    <a:pt x="13294" y="8879"/>
                  </a:lnTo>
                  <a:lnTo>
                    <a:pt x="10980" y="9499"/>
                  </a:lnTo>
                  <a:lnTo>
                    <a:pt x="7851" y="7693"/>
                  </a:lnTo>
                  <a:lnTo>
                    <a:pt x="10980" y="5886"/>
                  </a:lnTo>
                  <a:lnTo>
                    <a:pt x="13294" y="6506"/>
                  </a:lnTo>
                  <a:lnTo>
                    <a:pt x="13541" y="5587"/>
                  </a:lnTo>
                  <a:lnTo>
                    <a:pt x="12145" y="5212"/>
                  </a:lnTo>
                  <a:lnTo>
                    <a:pt x="13799" y="4258"/>
                  </a:lnTo>
                  <a:lnTo>
                    <a:pt x="13322" y="3434"/>
                  </a:lnTo>
                  <a:lnTo>
                    <a:pt x="11669" y="4389"/>
                  </a:lnTo>
                  <a:lnTo>
                    <a:pt x="12044" y="2993"/>
                  </a:lnTo>
                  <a:lnTo>
                    <a:pt x="11124" y="2747"/>
                  </a:lnTo>
                  <a:lnTo>
                    <a:pt x="10504" y="5062"/>
                  </a:lnTo>
                  <a:lnTo>
                    <a:pt x="7376" y="6867"/>
                  </a:lnTo>
                  <a:lnTo>
                    <a:pt x="7376" y="3255"/>
                  </a:lnTo>
                  <a:lnTo>
                    <a:pt x="9070" y="1561"/>
                  </a:lnTo>
                  <a:lnTo>
                    <a:pt x="8397" y="887"/>
                  </a:lnTo>
                  <a:lnTo>
                    <a:pt x="7376" y="1910"/>
                  </a:lnTo>
                  <a:lnTo>
                    <a:pt x="7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208;p31">
            <a:extLst>
              <a:ext uri="{FF2B5EF4-FFF2-40B4-BE49-F238E27FC236}">
                <a16:creationId xmlns:a16="http://schemas.microsoft.com/office/drawing/2014/main" id="{6427EB35-46EC-0454-AC7C-F258A682DD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074" y="267732"/>
            <a:ext cx="2743200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Methodology</a:t>
            </a:r>
            <a:endParaRPr sz="3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85F067-D6C7-0FC6-E48F-5F5613E3D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952" y="800331"/>
            <a:ext cx="5128021" cy="32544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EDA8B1-2481-16D6-C0C0-4CBDCA738AD6}"/>
              </a:ext>
            </a:extLst>
          </p:cNvPr>
          <p:cNvSpPr txBox="1"/>
          <p:nvPr/>
        </p:nvSpPr>
        <p:spPr>
          <a:xfrm>
            <a:off x="362453" y="962305"/>
            <a:ext cx="327209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/>
              <a:t>If PMW is not available at time T:</a:t>
            </a:r>
          </a:p>
          <a:p>
            <a:pPr>
              <a:lnSpc>
                <a:spcPct val="150000"/>
              </a:lnSpc>
            </a:pPr>
            <a:r>
              <a:rPr lang="en-US"/>
              <a:t>look at </a:t>
            </a:r>
            <a:r>
              <a:rPr lang="en-US" b="1"/>
              <a:t>PMW from −1.5 hours to +1.5 hours</a:t>
            </a:r>
            <a:br>
              <a:rPr lang="en-US"/>
            </a:br>
            <a:r>
              <a:rPr lang="en-US"/>
              <a:t>→ all available PMW data in that 3-hour window</a:t>
            </a:r>
          </a:p>
          <a:p>
            <a:pPr>
              <a:lnSpc>
                <a:spcPct val="150000"/>
              </a:lnSpc>
            </a:pP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Feed those values + the </a:t>
            </a:r>
            <a:r>
              <a:rPr lang="en-US" b="1"/>
              <a:t>time difference</a:t>
            </a:r>
            <a:r>
              <a:rPr lang="en-US"/>
              <a:t> as input to ML model</a:t>
            </a:r>
          </a:p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277038-2928-062A-E1CF-FB3963D47402}"/>
              </a:ext>
            </a:extLst>
          </p:cNvPr>
          <p:cNvSpPr txBox="1"/>
          <p:nvPr/>
        </p:nvSpPr>
        <p:spPr>
          <a:xfrm>
            <a:off x="142149" y="4755972"/>
            <a:ext cx="1295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>
                <a:solidFill>
                  <a:srgbClr val="002060"/>
                </a:solidFill>
              </a:rPr>
              <a:t>CHEN et 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A80401-E652-668F-E2E7-D2A23BAF8764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395088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2D046382-41CD-CA4F-934A-59C8F38FF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1">
            <a:extLst>
              <a:ext uri="{FF2B5EF4-FFF2-40B4-BE49-F238E27FC236}">
                <a16:creationId xmlns:a16="http://schemas.microsoft.com/office/drawing/2014/main" id="{A687C9E1-00DF-FBB0-B24E-350FE1C5844E}"/>
              </a:ext>
            </a:extLst>
          </p:cNvPr>
          <p:cNvGrpSpPr/>
          <p:nvPr/>
        </p:nvGrpSpPr>
        <p:grpSpPr>
          <a:xfrm>
            <a:off x="7805549" y="551758"/>
            <a:ext cx="1026377" cy="901112"/>
            <a:chOff x="6423665" y="1479376"/>
            <a:chExt cx="1250400" cy="1250400"/>
          </a:xfrm>
        </p:grpSpPr>
        <p:sp>
          <p:nvSpPr>
            <p:cNvPr id="206" name="Google Shape;206;p31">
              <a:extLst>
                <a:ext uri="{FF2B5EF4-FFF2-40B4-BE49-F238E27FC236}">
                  <a16:creationId xmlns:a16="http://schemas.microsoft.com/office/drawing/2014/main" id="{09B6DF37-F518-1E1C-48D7-8636DD1E40F8}"/>
                </a:ext>
              </a:extLst>
            </p:cNvPr>
            <p:cNvSpPr/>
            <p:nvPr/>
          </p:nvSpPr>
          <p:spPr>
            <a:xfrm>
              <a:off x="6423665" y="1479376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1">
              <a:extLst>
                <a:ext uri="{FF2B5EF4-FFF2-40B4-BE49-F238E27FC236}">
                  <a16:creationId xmlns:a16="http://schemas.microsoft.com/office/drawing/2014/main" id="{F415E16E-5B2D-F849-6270-070BECF8DD41}"/>
                </a:ext>
              </a:extLst>
            </p:cNvPr>
            <p:cNvSpPr/>
            <p:nvPr/>
          </p:nvSpPr>
          <p:spPr>
            <a:xfrm>
              <a:off x="6690463" y="1750275"/>
              <a:ext cx="716837" cy="708596"/>
            </a:xfrm>
            <a:custGeom>
              <a:avLst/>
              <a:gdLst/>
              <a:ahLst/>
              <a:cxnLst/>
              <a:rect l="l" t="t" r="r" b="b"/>
              <a:pathLst>
                <a:path w="14787" h="14617" extrusionOk="0">
                  <a:moveTo>
                    <a:pt x="7393" y="951"/>
                  </a:moveTo>
                  <a:cubicBezTo>
                    <a:pt x="9294" y="951"/>
                    <a:pt x="10894" y="2373"/>
                    <a:pt x="11117" y="4257"/>
                  </a:cubicBezTo>
                  <a:lnTo>
                    <a:pt x="11167" y="4677"/>
                  </a:lnTo>
                  <a:lnTo>
                    <a:pt x="11589" y="4677"/>
                  </a:lnTo>
                  <a:cubicBezTo>
                    <a:pt x="12827" y="4677"/>
                    <a:pt x="13834" y="5684"/>
                    <a:pt x="13834" y="6921"/>
                  </a:cubicBezTo>
                  <a:cubicBezTo>
                    <a:pt x="13834" y="8158"/>
                    <a:pt x="12827" y="9166"/>
                    <a:pt x="11591" y="9166"/>
                  </a:cubicBezTo>
                  <a:lnTo>
                    <a:pt x="3197" y="9166"/>
                  </a:lnTo>
                  <a:cubicBezTo>
                    <a:pt x="1959" y="9166"/>
                    <a:pt x="952" y="8158"/>
                    <a:pt x="952" y="6921"/>
                  </a:cubicBezTo>
                  <a:cubicBezTo>
                    <a:pt x="952" y="5684"/>
                    <a:pt x="1959" y="4677"/>
                    <a:pt x="3197" y="4677"/>
                  </a:cubicBezTo>
                  <a:lnTo>
                    <a:pt x="3620" y="4677"/>
                  </a:lnTo>
                  <a:lnTo>
                    <a:pt x="3669" y="4257"/>
                  </a:lnTo>
                  <a:cubicBezTo>
                    <a:pt x="3892" y="2373"/>
                    <a:pt x="5492" y="951"/>
                    <a:pt x="7393" y="951"/>
                  </a:cubicBezTo>
                  <a:close/>
                  <a:moveTo>
                    <a:pt x="7393" y="0"/>
                  </a:moveTo>
                  <a:cubicBezTo>
                    <a:pt x="5145" y="0"/>
                    <a:pt x="3232" y="1587"/>
                    <a:pt x="2788" y="3752"/>
                  </a:cubicBezTo>
                  <a:cubicBezTo>
                    <a:pt x="1217" y="3953"/>
                    <a:pt x="1" y="5297"/>
                    <a:pt x="1" y="6922"/>
                  </a:cubicBezTo>
                  <a:cubicBezTo>
                    <a:pt x="1" y="8683"/>
                    <a:pt x="1434" y="10118"/>
                    <a:pt x="3197" y="10118"/>
                  </a:cubicBezTo>
                  <a:lnTo>
                    <a:pt x="4922" y="10118"/>
                  </a:lnTo>
                  <a:lnTo>
                    <a:pt x="4922" y="11608"/>
                  </a:lnTo>
                  <a:lnTo>
                    <a:pt x="3663" y="11608"/>
                  </a:lnTo>
                  <a:lnTo>
                    <a:pt x="3663" y="14616"/>
                  </a:lnTo>
                  <a:lnTo>
                    <a:pt x="4614" y="14616"/>
                  </a:lnTo>
                  <a:lnTo>
                    <a:pt x="4614" y="12561"/>
                  </a:lnTo>
                  <a:lnTo>
                    <a:pt x="5873" y="12561"/>
                  </a:lnTo>
                  <a:lnTo>
                    <a:pt x="5873" y="10118"/>
                  </a:lnTo>
                  <a:lnTo>
                    <a:pt x="8651" y="10118"/>
                  </a:lnTo>
                  <a:lnTo>
                    <a:pt x="8651" y="11608"/>
                  </a:lnTo>
                  <a:lnTo>
                    <a:pt x="7393" y="11608"/>
                  </a:lnTo>
                  <a:lnTo>
                    <a:pt x="7393" y="14616"/>
                  </a:lnTo>
                  <a:lnTo>
                    <a:pt x="8344" y="14616"/>
                  </a:lnTo>
                  <a:lnTo>
                    <a:pt x="8344" y="12561"/>
                  </a:lnTo>
                  <a:lnTo>
                    <a:pt x="9603" y="12561"/>
                  </a:lnTo>
                  <a:lnTo>
                    <a:pt x="9603" y="10118"/>
                  </a:lnTo>
                  <a:lnTo>
                    <a:pt x="11591" y="10118"/>
                  </a:lnTo>
                  <a:cubicBezTo>
                    <a:pt x="13353" y="10118"/>
                    <a:pt x="14787" y="8683"/>
                    <a:pt x="14787" y="6922"/>
                  </a:cubicBezTo>
                  <a:cubicBezTo>
                    <a:pt x="14787" y="5297"/>
                    <a:pt x="13569" y="3953"/>
                    <a:pt x="11999" y="3752"/>
                  </a:cubicBezTo>
                  <a:cubicBezTo>
                    <a:pt x="11556" y="1587"/>
                    <a:pt x="9641" y="0"/>
                    <a:pt x="7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31">
            <a:extLst>
              <a:ext uri="{FF2B5EF4-FFF2-40B4-BE49-F238E27FC236}">
                <a16:creationId xmlns:a16="http://schemas.microsoft.com/office/drawing/2014/main" id="{272F3EBF-B850-5310-CEFF-91795F9CC04C}"/>
              </a:ext>
            </a:extLst>
          </p:cNvPr>
          <p:cNvGrpSpPr/>
          <p:nvPr/>
        </p:nvGrpSpPr>
        <p:grpSpPr>
          <a:xfrm>
            <a:off x="8280615" y="156933"/>
            <a:ext cx="731051" cy="694843"/>
            <a:chOff x="7078515" y="609701"/>
            <a:chExt cx="1250400" cy="1250400"/>
          </a:xfrm>
        </p:grpSpPr>
        <p:sp>
          <p:nvSpPr>
            <p:cNvPr id="211" name="Google Shape;211;p31">
              <a:extLst>
                <a:ext uri="{FF2B5EF4-FFF2-40B4-BE49-F238E27FC236}">
                  <a16:creationId xmlns:a16="http://schemas.microsoft.com/office/drawing/2014/main" id="{6DE4A555-7745-B18F-EB26-41E657A9F547}"/>
                </a:ext>
              </a:extLst>
            </p:cNvPr>
            <p:cNvSpPr/>
            <p:nvPr/>
          </p:nvSpPr>
          <p:spPr>
            <a:xfrm>
              <a:off x="7078515" y="609701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1">
              <a:extLst>
                <a:ext uri="{FF2B5EF4-FFF2-40B4-BE49-F238E27FC236}">
                  <a16:creationId xmlns:a16="http://schemas.microsoft.com/office/drawing/2014/main" id="{BF3D4CB3-C0DF-BAA4-92DB-EC1B4F0F5C5A}"/>
                </a:ext>
              </a:extLst>
            </p:cNvPr>
            <p:cNvSpPr/>
            <p:nvPr/>
          </p:nvSpPr>
          <p:spPr>
            <a:xfrm>
              <a:off x="7385973" y="880600"/>
              <a:ext cx="635513" cy="708602"/>
            </a:xfrm>
            <a:custGeom>
              <a:avLst/>
              <a:gdLst/>
              <a:ahLst/>
              <a:cxnLst/>
              <a:rect l="l" t="t" r="r" b="b"/>
              <a:pathLst>
                <a:path w="13799" h="15386" extrusionOk="0">
                  <a:moveTo>
                    <a:pt x="6423" y="0"/>
                  </a:moveTo>
                  <a:lnTo>
                    <a:pt x="6423" y="1910"/>
                  </a:lnTo>
                  <a:lnTo>
                    <a:pt x="5402" y="887"/>
                  </a:lnTo>
                  <a:lnTo>
                    <a:pt x="4729" y="1561"/>
                  </a:lnTo>
                  <a:lnTo>
                    <a:pt x="6423" y="3255"/>
                  </a:lnTo>
                  <a:lnTo>
                    <a:pt x="6423" y="6869"/>
                  </a:lnTo>
                  <a:lnTo>
                    <a:pt x="3295" y="5062"/>
                  </a:lnTo>
                  <a:lnTo>
                    <a:pt x="2675" y="2747"/>
                  </a:lnTo>
                  <a:lnTo>
                    <a:pt x="1755" y="2993"/>
                  </a:lnTo>
                  <a:lnTo>
                    <a:pt x="2128" y="4389"/>
                  </a:lnTo>
                  <a:lnTo>
                    <a:pt x="475" y="3434"/>
                  </a:lnTo>
                  <a:lnTo>
                    <a:pt x="0" y="4258"/>
                  </a:lnTo>
                  <a:lnTo>
                    <a:pt x="1654" y="5212"/>
                  </a:lnTo>
                  <a:lnTo>
                    <a:pt x="258" y="5587"/>
                  </a:lnTo>
                  <a:lnTo>
                    <a:pt x="504" y="6506"/>
                  </a:lnTo>
                  <a:lnTo>
                    <a:pt x="2819" y="5886"/>
                  </a:lnTo>
                  <a:lnTo>
                    <a:pt x="5948" y="7693"/>
                  </a:lnTo>
                  <a:lnTo>
                    <a:pt x="2819" y="9499"/>
                  </a:lnTo>
                  <a:lnTo>
                    <a:pt x="504" y="8879"/>
                  </a:lnTo>
                  <a:lnTo>
                    <a:pt x="258" y="9798"/>
                  </a:lnTo>
                  <a:lnTo>
                    <a:pt x="1654" y="10171"/>
                  </a:lnTo>
                  <a:lnTo>
                    <a:pt x="0" y="11127"/>
                  </a:lnTo>
                  <a:lnTo>
                    <a:pt x="475" y="11951"/>
                  </a:lnTo>
                  <a:lnTo>
                    <a:pt x="2128" y="10997"/>
                  </a:lnTo>
                  <a:lnTo>
                    <a:pt x="1755" y="12392"/>
                  </a:lnTo>
                  <a:lnTo>
                    <a:pt x="2675" y="12638"/>
                  </a:lnTo>
                  <a:lnTo>
                    <a:pt x="3295" y="10323"/>
                  </a:lnTo>
                  <a:lnTo>
                    <a:pt x="6423" y="8516"/>
                  </a:lnTo>
                  <a:lnTo>
                    <a:pt x="6423" y="12130"/>
                  </a:lnTo>
                  <a:lnTo>
                    <a:pt x="4729" y="13824"/>
                  </a:lnTo>
                  <a:lnTo>
                    <a:pt x="5402" y="14496"/>
                  </a:lnTo>
                  <a:lnTo>
                    <a:pt x="6423" y="13475"/>
                  </a:lnTo>
                  <a:lnTo>
                    <a:pt x="6423" y="15385"/>
                  </a:lnTo>
                  <a:lnTo>
                    <a:pt x="7376" y="15385"/>
                  </a:lnTo>
                  <a:lnTo>
                    <a:pt x="7376" y="13475"/>
                  </a:lnTo>
                  <a:lnTo>
                    <a:pt x="8397" y="14496"/>
                  </a:lnTo>
                  <a:lnTo>
                    <a:pt x="9070" y="13824"/>
                  </a:lnTo>
                  <a:lnTo>
                    <a:pt x="7376" y="12130"/>
                  </a:lnTo>
                  <a:lnTo>
                    <a:pt x="7376" y="8516"/>
                  </a:lnTo>
                  <a:lnTo>
                    <a:pt x="10504" y="10323"/>
                  </a:lnTo>
                  <a:lnTo>
                    <a:pt x="11124" y="12638"/>
                  </a:lnTo>
                  <a:lnTo>
                    <a:pt x="12044" y="12392"/>
                  </a:lnTo>
                  <a:lnTo>
                    <a:pt x="11669" y="10997"/>
                  </a:lnTo>
                  <a:lnTo>
                    <a:pt x="13322" y="11951"/>
                  </a:lnTo>
                  <a:lnTo>
                    <a:pt x="13799" y="11127"/>
                  </a:lnTo>
                  <a:lnTo>
                    <a:pt x="12145" y="10171"/>
                  </a:lnTo>
                  <a:lnTo>
                    <a:pt x="13541" y="9798"/>
                  </a:lnTo>
                  <a:lnTo>
                    <a:pt x="13294" y="8879"/>
                  </a:lnTo>
                  <a:lnTo>
                    <a:pt x="10980" y="9499"/>
                  </a:lnTo>
                  <a:lnTo>
                    <a:pt x="7851" y="7693"/>
                  </a:lnTo>
                  <a:lnTo>
                    <a:pt x="10980" y="5886"/>
                  </a:lnTo>
                  <a:lnTo>
                    <a:pt x="13294" y="6506"/>
                  </a:lnTo>
                  <a:lnTo>
                    <a:pt x="13541" y="5587"/>
                  </a:lnTo>
                  <a:lnTo>
                    <a:pt x="12145" y="5212"/>
                  </a:lnTo>
                  <a:lnTo>
                    <a:pt x="13799" y="4258"/>
                  </a:lnTo>
                  <a:lnTo>
                    <a:pt x="13322" y="3434"/>
                  </a:lnTo>
                  <a:lnTo>
                    <a:pt x="11669" y="4389"/>
                  </a:lnTo>
                  <a:lnTo>
                    <a:pt x="12044" y="2993"/>
                  </a:lnTo>
                  <a:lnTo>
                    <a:pt x="11124" y="2747"/>
                  </a:lnTo>
                  <a:lnTo>
                    <a:pt x="10504" y="5062"/>
                  </a:lnTo>
                  <a:lnTo>
                    <a:pt x="7376" y="6867"/>
                  </a:lnTo>
                  <a:lnTo>
                    <a:pt x="7376" y="3255"/>
                  </a:lnTo>
                  <a:lnTo>
                    <a:pt x="9070" y="1561"/>
                  </a:lnTo>
                  <a:lnTo>
                    <a:pt x="8397" y="887"/>
                  </a:lnTo>
                  <a:lnTo>
                    <a:pt x="7376" y="1910"/>
                  </a:lnTo>
                  <a:lnTo>
                    <a:pt x="7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208;p31">
            <a:extLst>
              <a:ext uri="{FF2B5EF4-FFF2-40B4-BE49-F238E27FC236}">
                <a16:creationId xmlns:a16="http://schemas.microsoft.com/office/drawing/2014/main" id="{5AA157C9-57B4-EBA4-A809-202277B0F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334" y="156932"/>
            <a:ext cx="2743200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Methodology</a:t>
            </a:r>
            <a:endParaRPr sz="36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D252F7-FF15-BFFB-5596-A57FB3934A70}"/>
              </a:ext>
            </a:extLst>
          </p:cNvPr>
          <p:cNvSpPr txBox="1"/>
          <p:nvPr/>
        </p:nvSpPr>
        <p:spPr>
          <a:xfrm>
            <a:off x="341375" y="789150"/>
            <a:ext cx="368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/>
              <a:t>Training &amp; Testing Events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67749-8A5E-1D0A-B9C8-7D7E6028D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163" y="551758"/>
            <a:ext cx="3375953" cy="37798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2252B3-6DD6-6903-CC08-EFADD9FFD8B7}"/>
              </a:ext>
            </a:extLst>
          </p:cNvPr>
          <p:cNvSpPr txBox="1"/>
          <p:nvPr/>
        </p:nvSpPr>
        <p:spPr>
          <a:xfrm>
            <a:off x="132334" y="4855763"/>
            <a:ext cx="1295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>
                <a:solidFill>
                  <a:srgbClr val="002060"/>
                </a:solidFill>
              </a:rPr>
              <a:t>CHEN et 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913B7D-3161-3E9E-E91C-047FAC8F02B3}"/>
              </a:ext>
            </a:extLst>
          </p:cNvPr>
          <p:cNvSpPr txBox="1"/>
          <p:nvPr/>
        </p:nvSpPr>
        <p:spPr>
          <a:xfrm>
            <a:off x="670559" y="1144702"/>
            <a:ext cx="490555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Training Dataset</a:t>
            </a:r>
          </a:p>
          <a:p>
            <a:pPr lvl="3"/>
            <a:r>
              <a:rPr lang="en-US" sz="1200" b="1"/>
              <a:t>    12 storm events</a:t>
            </a:r>
            <a:r>
              <a:rPr lang="en-US" sz="1200"/>
              <a:t> from </a:t>
            </a:r>
            <a:r>
              <a:rPr lang="en-US" sz="1200" b="1"/>
              <a:t>2013–2015</a:t>
            </a:r>
            <a:endParaRPr lang="en-US" sz="1200"/>
          </a:p>
          <a:p>
            <a:pPr lvl="3"/>
            <a:r>
              <a:rPr lang="en-US" sz="1200"/>
              <a:t>    Covers a wide range of: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US" sz="1200"/>
              <a:t>Seasonal conditions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US" sz="1200"/>
              <a:t>Storm intensities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US" sz="1200"/>
              <a:t>Different rainfall patterns</a:t>
            </a:r>
          </a:p>
          <a:p>
            <a:pPr lvl="3"/>
            <a:r>
              <a:rPr lang="en-US" sz="1200"/>
              <a:t>    Provides </a:t>
            </a:r>
            <a:r>
              <a:rPr lang="en-US" sz="1200" b="1"/>
              <a:t>~960 hours</a:t>
            </a:r>
            <a:r>
              <a:rPr lang="en-US" sz="1200"/>
              <a:t> of data for model learning.</a:t>
            </a:r>
          </a:p>
          <a:p>
            <a:pPr lvl="3"/>
            <a:r>
              <a:rPr lang="en-US" sz="1200"/>
              <a:t>    Radar rainfall used as </a:t>
            </a:r>
            <a:r>
              <a:rPr lang="en-US" sz="1200" b="1"/>
              <a:t>ground truth</a:t>
            </a:r>
            <a:r>
              <a:rPr lang="en-US" sz="1200"/>
              <a:t> during training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0B59A1-B748-DFED-138C-0538D5B24E6E}"/>
              </a:ext>
            </a:extLst>
          </p:cNvPr>
          <p:cNvSpPr txBox="1"/>
          <p:nvPr/>
        </p:nvSpPr>
        <p:spPr>
          <a:xfrm>
            <a:off x="670559" y="2795830"/>
            <a:ext cx="479145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Testing Dataset</a:t>
            </a:r>
          </a:p>
          <a:p>
            <a:r>
              <a:rPr lang="en-US" sz="1200" b="1"/>
              <a:t>   2 completely unseen events</a:t>
            </a:r>
            <a:endParaRPr lang="en-US" sz="1200"/>
          </a:p>
          <a:p>
            <a:r>
              <a:rPr lang="en-US" sz="1200"/>
              <a:t>   Used only to </a:t>
            </a:r>
            <a:r>
              <a:rPr lang="en-US" sz="1200" b="1"/>
              <a:t>evaluate</a:t>
            </a:r>
            <a:r>
              <a:rPr lang="en-US" sz="1200"/>
              <a:t> model performance.</a:t>
            </a:r>
          </a:p>
          <a:p>
            <a:r>
              <a:rPr lang="en-US" sz="1200"/>
              <a:t>   Ensures the model can generalize to </a:t>
            </a:r>
            <a:r>
              <a:rPr lang="en-US" sz="1200" b="1"/>
              <a:t>new storms</a:t>
            </a:r>
            <a:r>
              <a:rPr lang="en-US" sz="1200"/>
              <a:t>.</a:t>
            </a:r>
          </a:p>
          <a:p>
            <a:r>
              <a:rPr lang="en-US" sz="1200"/>
              <a:t>   Compared against: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/>
              <a:t>Radar rainfall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/>
              <a:t>CMORPH products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A5CF55-B235-AFC3-E070-C5BAA4CF9176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42852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F5D9C3-CEBE-D34C-81A7-75A39EDDD118}"/>
              </a:ext>
            </a:extLst>
          </p:cNvPr>
          <p:cNvSpPr txBox="1"/>
          <p:nvPr/>
        </p:nvSpPr>
        <p:spPr>
          <a:xfrm>
            <a:off x="126878" y="872758"/>
            <a:ext cx="34735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/>
              <a:t>Left. </a:t>
            </a:r>
            <a:r>
              <a:rPr lang="en-US"/>
              <a:t>Precipitation products on June 24, 2014, at 23:00 UTC</a:t>
            </a:r>
          </a:p>
          <a:p>
            <a:pPr algn="just"/>
            <a:r>
              <a:rPr lang="en-US"/>
              <a:t>At this time frame, the combined PMW-based retrievals are available in the area</a:t>
            </a:r>
            <a:endParaRPr lang="en-US" b="1"/>
          </a:p>
          <a:p>
            <a:pPr algn="just"/>
            <a:endParaRPr lang="en-US" b="1"/>
          </a:p>
          <a:p>
            <a:pPr algn="just"/>
            <a:r>
              <a:rPr lang="en-US" b="1"/>
              <a:t>Right. </a:t>
            </a:r>
            <a:r>
              <a:rPr lang="en-US"/>
              <a:t>Precipitation products on June 25, 2014 at 19:00 UTC</a:t>
            </a:r>
          </a:p>
          <a:p>
            <a:pPr algn="just"/>
            <a:r>
              <a:rPr lang="en-US"/>
              <a:t>At this time frame, the combined PMW-based retrievals are not available in the area</a:t>
            </a:r>
            <a:endParaRPr lang="en-US" b="1"/>
          </a:p>
        </p:txBody>
      </p:sp>
      <p:sp>
        <p:nvSpPr>
          <p:cNvPr id="3" name="Google Shape;208;p31">
            <a:extLst>
              <a:ext uri="{FF2B5EF4-FFF2-40B4-BE49-F238E27FC236}">
                <a16:creationId xmlns:a16="http://schemas.microsoft.com/office/drawing/2014/main" id="{9BEEEA3B-FD7E-1F42-D874-BCC50F101F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878" y="258549"/>
            <a:ext cx="1654337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Results</a:t>
            </a:r>
            <a:endParaRPr sz="3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35C50-5B0A-B7AC-0E16-06CD7DDA6B05}"/>
              </a:ext>
            </a:extLst>
          </p:cNvPr>
          <p:cNvSpPr txBox="1"/>
          <p:nvPr/>
        </p:nvSpPr>
        <p:spPr>
          <a:xfrm>
            <a:off x="126878" y="3070997"/>
            <a:ext cx="347355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8" indent="-171450">
              <a:buFont typeface="Wingdings" panose="05000000000000000000" pitchFamily="2" charset="2"/>
              <a:buChar char="q"/>
            </a:pPr>
            <a:r>
              <a:rPr lang="en-US"/>
              <a:t>CMORPH and the MLP model could capture the overall rainfall pattern</a:t>
            </a:r>
          </a:p>
          <a:p>
            <a:pPr lvl="8"/>
            <a:endParaRPr lang="en-US"/>
          </a:p>
          <a:p>
            <a:pPr marL="171450" lvl="8" indent="-171450">
              <a:buFont typeface="Wingdings" panose="05000000000000000000" pitchFamily="2" charset="2"/>
              <a:buChar char="q"/>
            </a:pPr>
            <a:r>
              <a:rPr lang="en-US"/>
              <a:t>Time difference inputs allow the MLP to mimic CMORPH motion vectors</a:t>
            </a:r>
          </a:p>
          <a:p>
            <a:pPr marL="171450" lvl="8" indent="-171450">
              <a:buFont typeface="Wingdings" panose="05000000000000000000" pitchFamily="2" charset="2"/>
              <a:buChar char="q"/>
            </a:pPr>
            <a:endParaRPr 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9C87EA-A5FC-CB3D-A47E-78167AB12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549" y="168352"/>
            <a:ext cx="1996339" cy="47389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09DA0F-1B79-9F69-9654-A07E58839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685" y="168352"/>
            <a:ext cx="2017486" cy="47439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D1324DB-0BD7-1AB1-CF08-0925807359B5}"/>
              </a:ext>
            </a:extLst>
          </p:cNvPr>
          <p:cNvSpPr txBox="1"/>
          <p:nvPr/>
        </p:nvSpPr>
        <p:spPr>
          <a:xfrm>
            <a:off x="7915162" y="4938812"/>
            <a:ext cx="1295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>
                <a:solidFill>
                  <a:srgbClr val="002060"/>
                </a:solidFill>
              </a:rPr>
              <a:t>CHEN et 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E4ED48-C860-898F-18D1-BC6622672512}"/>
              </a:ext>
            </a:extLst>
          </p:cNvPr>
          <p:cNvSpPr txBox="1"/>
          <p:nvPr/>
        </p:nvSpPr>
        <p:spPr>
          <a:xfrm>
            <a:off x="8704053" y="493881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B0164-73D0-976B-C96C-E4736BE7333B}"/>
              </a:ext>
            </a:extLst>
          </p:cNvPr>
          <p:cNvSpPr txBox="1"/>
          <p:nvPr/>
        </p:nvSpPr>
        <p:spPr>
          <a:xfrm>
            <a:off x="3852098" y="614838"/>
            <a:ext cx="838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/>
              <a:t>MLP: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AA6621-02A0-13B6-163A-94966F92D953}"/>
              </a:ext>
            </a:extLst>
          </p:cNvPr>
          <p:cNvSpPr txBox="1"/>
          <p:nvPr/>
        </p:nvSpPr>
        <p:spPr>
          <a:xfrm>
            <a:off x="3650763" y="2267912"/>
            <a:ext cx="12247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/>
              <a:t>CMORPH: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7F224C-8FF5-4999-577A-EE736D864679}"/>
              </a:ext>
            </a:extLst>
          </p:cNvPr>
          <p:cNvSpPr txBox="1"/>
          <p:nvPr/>
        </p:nvSpPr>
        <p:spPr>
          <a:xfrm>
            <a:off x="3600429" y="3635175"/>
            <a:ext cx="1023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/>
              <a:t>Ground Radar (truthing):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CE4D4E-BBEC-D0D3-9DE5-3B8B01BC4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565" y="467178"/>
            <a:ext cx="3633220" cy="42091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F46636-2271-36D6-2F46-9C9DBBD84C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1670" y="1458895"/>
            <a:ext cx="2005293" cy="608610"/>
          </a:xfrm>
          <a:prstGeom prst="rect">
            <a:avLst/>
          </a:prstGeom>
        </p:spPr>
      </p:pic>
      <p:sp>
        <p:nvSpPr>
          <p:cNvPr id="5" name="Google Shape;208;p31">
            <a:extLst>
              <a:ext uri="{FF2B5EF4-FFF2-40B4-BE49-F238E27FC236}">
                <a16:creationId xmlns:a16="http://schemas.microsoft.com/office/drawing/2014/main" id="{41E9E9C5-BC04-F279-08AA-470A79159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5720" y="467178"/>
            <a:ext cx="1654337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Results</a:t>
            </a:r>
            <a:endParaRPr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EF13AC-F2FB-8841-1B2D-9D2FB604304A}"/>
              </a:ext>
            </a:extLst>
          </p:cNvPr>
          <p:cNvSpPr txBox="1"/>
          <p:nvPr/>
        </p:nvSpPr>
        <p:spPr>
          <a:xfrm>
            <a:off x="435720" y="2364379"/>
            <a:ext cx="45571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i="1"/>
              <a:t>E</a:t>
            </a:r>
            <a:r>
              <a:rPr lang="en-US" i="1" baseline="-25000"/>
              <a:t>R</a:t>
            </a:r>
            <a:r>
              <a:rPr lang="en-US"/>
              <a:t> = Number of rainy pixels from models </a:t>
            </a:r>
          </a:p>
          <a:p>
            <a:pPr algn="just">
              <a:lnSpc>
                <a:spcPct val="150000"/>
              </a:lnSpc>
            </a:pPr>
            <a:r>
              <a:rPr lang="en-US" i="1"/>
              <a:t>R</a:t>
            </a:r>
            <a:r>
              <a:rPr lang="en-US" i="1" baseline="-25000"/>
              <a:t>R </a:t>
            </a:r>
            <a:r>
              <a:rPr lang="en-US"/>
              <a:t>= Number of rainy pixels from radars (ground truth)</a:t>
            </a:r>
          </a:p>
          <a:p>
            <a:pPr algn="just"/>
            <a:endParaRPr lang="en-US" b="1"/>
          </a:p>
          <a:p>
            <a:pPr algn="just"/>
            <a:r>
              <a:rPr lang="en-US"/>
              <a:t>Closer to zero = Better performance</a:t>
            </a:r>
          </a:p>
          <a:p>
            <a:pPr algn="just"/>
            <a:endParaRPr lang="en-US" b="1"/>
          </a:p>
          <a:p>
            <a:pPr algn="just"/>
            <a:r>
              <a:rPr lang="en-US"/>
              <a:t>MLP product outperforms the CMORPH product in two thresholds.</a:t>
            </a:r>
          </a:p>
          <a:p>
            <a:pPr algn="just"/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AA707E-F1E6-B42F-06C6-A4CC69D4999C}"/>
              </a:ext>
            </a:extLst>
          </p:cNvPr>
          <p:cNvSpPr txBox="1"/>
          <p:nvPr/>
        </p:nvSpPr>
        <p:spPr>
          <a:xfrm>
            <a:off x="280053" y="4881890"/>
            <a:ext cx="1295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>
                <a:solidFill>
                  <a:srgbClr val="002060"/>
                </a:solidFill>
              </a:rPr>
              <a:t>CHEN et 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E8DAA6-FD62-8684-6C98-BBC7C5EEE55B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08;p31">
            <a:extLst>
              <a:ext uri="{FF2B5EF4-FFF2-40B4-BE49-F238E27FC236}">
                <a16:creationId xmlns:a16="http://schemas.microsoft.com/office/drawing/2014/main" id="{26038062-9AC1-7F2F-8002-37B6527817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11" y="-133223"/>
            <a:ext cx="7903403" cy="6948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Conclusion &amp; Observation</a:t>
            </a:r>
            <a:endParaRPr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DF15C0-58AE-3DF8-9C5C-5CAF60BAD001}"/>
              </a:ext>
            </a:extLst>
          </p:cNvPr>
          <p:cNvSpPr txBox="1"/>
          <p:nvPr/>
        </p:nvSpPr>
        <p:spPr>
          <a:xfrm>
            <a:off x="557935" y="495884"/>
            <a:ext cx="7714051" cy="3838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/>
            <a:r>
              <a:rPr lang="en-US" sz="1200" b="1"/>
              <a:t>Main Findings:</a:t>
            </a:r>
          </a:p>
          <a:p>
            <a:pPr marL="171450" lvl="8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/>
              <a:t>MLP model estimates precipitation from satellite data</a:t>
            </a:r>
          </a:p>
          <a:p>
            <a:pPr marL="171450" lvl="8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/>
              <a:t>Performance is very similar to CMORPH product</a:t>
            </a:r>
          </a:p>
          <a:p>
            <a:pPr marL="171450" lvl="8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/>
              <a:t>Time difference as input enables motion tracking</a:t>
            </a:r>
          </a:p>
          <a:p>
            <a:pPr lvl="8"/>
            <a:endParaRPr lang="en-US" sz="1200" b="1"/>
          </a:p>
          <a:p>
            <a:pPr lvl="8"/>
            <a:r>
              <a:rPr lang="en-US" sz="1200" b="1"/>
              <a:t>Limitations &amp; Future Work:</a:t>
            </a:r>
          </a:p>
          <a:p>
            <a:pPr marL="171450" lvl="8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/>
              <a:t>Trained only on local DFW observations </a:t>
            </a:r>
            <a:r>
              <a:rPr lang="en-US" sz="1200">
                <a:sym typeface="Wingdings" panose="05000000000000000000" pitchFamily="2" charset="2"/>
              </a:rPr>
              <a:t> </a:t>
            </a:r>
            <a:r>
              <a:rPr lang="en-US" sz="1200"/>
              <a:t>Need data from other regions for generalization </a:t>
            </a:r>
          </a:p>
          <a:p>
            <a:pPr marL="171450" lvl="8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/>
              <a:t>Simple architecture (only 3 hidden layers) </a:t>
            </a:r>
            <a:r>
              <a:rPr lang="en-US" sz="1200">
                <a:sym typeface="Wingdings" panose="05000000000000000000" pitchFamily="2" charset="2"/>
              </a:rPr>
              <a:t> </a:t>
            </a:r>
            <a:r>
              <a:rPr lang="en-US" sz="1200"/>
              <a:t>Modern architectures (CNN, </a:t>
            </a:r>
            <a:r>
              <a:rPr lang="en-US" sz="1200" err="1"/>
              <a:t>ConvLSTM</a:t>
            </a:r>
            <a:r>
              <a:rPr lang="en-US" sz="1200"/>
              <a:t>)</a:t>
            </a:r>
          </a:p>
          <a:p>
            <a:pPr marL="171450" lvl="8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/>
              <a:t>Basic evaluation metrics </a:t>
            </a:r>
            <a:r>
              <a:rPr lang="en-US" sz="1200">
                <a:sym typeface="Wingdings" panose="05000000000000000000" pitchFamily="2" charset="2"/>
              </a:rPr>
              <a:t> </a:t>
            </a:r>
            <a:r>
              <a:rPr lang="en-US" sz="1200"/>
              <a:t>Could use more comprehensive metrics</a:t>
            </a:r>
          </a:p>
          <a:p>
            <a:pPr marL="171450" lvl="8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/>
              <a:t>Processing Power and Time Requirement </a:t>
            </a:r>
          </a:p>
          <a:p>
            <a:pPr lvl="8"/>
            <a:endParaRPr lang="en-US" sz="1200" b="1"/>
          </a:p>
          <a:p>
            <a:pPr lvl="8"/>
            <a:r>
              <a:rPr lang="en-US" sz="1200" b="1"/>
              <a:t>Strengths:</a:t>
            </a:r>
          </a:p>
          <a:p>
            <a:pPr marL="171450" lvl="8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/>
              <a:t>Flexible - can be used wherever radar networks exist</a:t>
            </a:r>
          </a:p>
          <a:p>
            <a:pPr marL="171450" lvl="8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/>
              <a:t>Well-documented procedure that can be followed</a:t>
            </a:r>
          </a:p>
          <a:p>
            <a:pPr marL="171450" lvl="8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/>
              <a:t>Novel approach: time tags replace motion vectors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0C654-F17A-D1BB-ECD9-E5979AF85713}"/>
              </a:ext>
            </a:extLst>
          </p:cNvPr>
          <p:cNvSpPr txBox="1"/>
          <p:nvPr/>
        </p:nvSpPr>
        <p:spPr>
          <a:xfrm>
            <a:off x="6356532" y="87240"/>
            <a:ext cx="26996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*DFW : Dallas–Fort Worth Radar Network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C9B2E8-3D3D-69E7-C553-963EB07181E3}"/>
              </a:ext>
            </a:extLst>
          </p:cNvPr>
          <p:cNvSpPr txBox="1"/>
          <p:nvPr/>
        </p:nvSpPr>
        <p:spPr>
          <a:xfrm>
            <a:off x="8424000" y="4755972"/>
            <a:ext cx="43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>
            <a:spLocks noGrp="1"/>
          </p:cNvSpPr>
          <p:nvPr>
            <p:ph type="title"/>
          </p:nvPr>
        </p:nvSpPr>
        <p:spPr>
          <a:xfrm>
            <a:off x="844275" y="3567587"/>
            <a:ext cx="4108200" cy="6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attention</a:t>
            </a:r>
            <a:endParaRPr/>
          </a:p>
        </p:txBody>
      </p:sp>
      <p:pic>
        <p:nvPicPr>
          <p:cNvPr id="287" name="Google Shape;287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t="18194" b="18188"/>
          <a:stretch/>
        </p:blipFill>
        <p:spPr>
          <a:xfrm>
            <a:off x="844275" y="659250"/>
            <a:ext cx="4518300" cy="1915800"/>
          </a:xfrm>
          <a:prstGeom prst="roundRect">
            <a:avLst>
              <a:gd name="adj" fmla="val 12398"/>
            </a:avLst>
          </a:prstGeom>
          <a:noFill/>
          <a:ln>
            <a:noFill/>
          </a:ln>
        </p:spPr>
      </p:pic>
      <p:pic>
        <p:nvPicPr>
          <p:cNvPr id="288" name="Google Shape;288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5">
            <a:alphaModFix/>
          </a:blip>
          <a:srcRect l="18616" r="13710"/>
          <a:stretch/>
        </p:blipFill>
        <p:spPr>
          <a:xfrm>
            <a:off x="5516676" y="659250"/>
            <a:ext cx="2749500" cy="3825000"/>
          </a:xfrm>
          <a:prstGeom prst="roundRect">
            <a:avLst>
              <a:gd name="adj" fmla="val 8582"/>
            </a:avLst>
          </a:prstGeom>
        </p:spPr>
      </p:pic>
      <p:grpSp>
        <p:nvGrpSpPr>
          <p:cNvPr id="292" name="Google Shape;292;p35"/>
          <p:cNvGrpSpPr/>
          <p:nvPr/>
        </p:nvGrpSpPr>
        <p:grpSpPr>
          <a:xfrm>
            <a:off x="7621527" y="292525"/>
            <a:ext cx="979800" cy="979800"/>
            <a:chOff x="7455627" y="1221675"/>
            <a:chExt cx="979800" cy="979800"/>
          </a:xfrm>
        </p:grpSpPr>
        <p:sp>
          <p:nvSpPr>
            <p:cNvPr id="293" name="Google Shape;293;p35"/>
            <p:cNvSpPr/>
            <p:nvPr/>
          </p:nvSpPr>
          <p:spPr>
            <a:xfrm>
              <a:off x="7455627" y="1221675"/>
              <a:ext cx="979800" cy="979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4" name="Google Shape;294;p35"/>
            <p:cNvGrpSpPr/>
            <p:nvPr/>
          </p:nvGrpSpPr>
          <p:grpSpPr>
            <a:xfrm>
              <a:off x="7706857" y="1442088"/>
              <a:ext cx="477340" cy="538975"/>
              <a:chOff x="7778421" y="1517757"/>
              <a:chExt cx="371500" cy="419468"/>
            </a:xfrm>
          </p:grpSpPr>
          <p:grpSp>
            <p:nvGrpSpPr>
              <p:cNvPr id="295" name="Google Shape;295;p35"/>
              <p:cNvGrpSpPr/>
              <p:nvPr/>
            </p:nvGrpSpPr>
            <p:grpSpPr>
              <a:xfrm>
                <a:off x="7778421" y="1517757"/>
                <a:ext cx="371500" cy="382975"/>
                <a:chOff x="7772288" y="1404225"/>
                <a:chExt cx="371500" cy="382975"/>
              </a:xfrm>
            </p:grpSpPr>
            <p:sp>
              <p:nvSpPr>
                <p:cNvPr id="296" name="Google Shape;296;p35"/>
                <p:cNvSpPr/>
                <p:nvPr/>
              </p:nvSpPr>
              <p:spPr>
                <a:xfrm>
                  <a:off x="7772288" y="1404225"/>
                  <a:ext cx="371500" cy="38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60" h="15319" extrusionOk="0">
                      <a:moveTo>
                        <a:pt x="12432" y="1020"/>
                      </a:moveTo>
                      <a:lnTo>
                        <a:pt x="12432" y="1020"/>
                      </a:lnTo>
                      <a:cubicBezTo>
                        <a:pt x="12508" y="1041"/>
                        <a:pt x="12584" y="1067"/>
                        <a:pt x="12658" y="1097"/>
                      </a:cubicBezTo>
                      <a:cubicBezTo>
                        <a:pt x="13129" y="1293"/>
                        <a:pt x="13494" y="1658"/>
                        <a:pt x="13688" y="2127"/>
                      </a:cubicBezTo>
                      <a:cubicBezTo>
                        <a:pt x="13884" y="2597"/>
                        <a:pt x="13884" y="3115"/>
                        <a:pt x="13688" y="3585"/>
                      </a:cubicBezTo>
                      <a:cubicBezTo>
                        <a:pt x="13496" y="4052"/>
                        <a:pt x="13124" y="4421"/>
                        <a:pt x="12660" y="4613"/>
                      </a:cubicBezTo>
                      <a:cubicBezTo>
                        <a:pt x="12449" y="4538"/>
                        <a:pt x="12227" y="4483"/>
                        <a:pt x="11998" y="4454"/>
                      </a:cubicBezTo>
                      <a:cubicBezTo>
                        <a:pt x="11957" y="4255"/>
                        <a:pt x="11904" y="4061"/>
                        <a:pt x="11841" y="3873"/>
                      </a:cubicBezTo>
                      <a:cubicBezTo>
                        <a:pt x="12064" y="3629"/>
                        <a:pt x="12241" y="3350"/>
                        <a:pt x="12370" y="3039"/>
                      </a:cubicBezTo>
                      <a:cubicBezTo>
                        <a:pt x="12640" y="2388"/>
                        <a:pt x="12654" y="1669"/>
                        <a:pt x="12432" y="1020"/>
                      </a:cubicBezTo>
                      <a:close/>
                      <a:moveTo>
                        <a:pt x="7393" y="1654"/>
                      </a:moveTo>
                      <a:cubicBezTo>
                        <a:pt x="9294" y="1654"/>
                        <a:pt x="10894" y="3075"/>
                        <a:pt x="11117" y="4959"/>
                      </a:cubicBezTo>
                      <a:lnTo>
                        <a:pt x="11167" y="5380"/>
                      </a:lnTo>
                      <a:lnTo>
                        <a:pt x="11589" y="5380"/>
                      </a:lnTo>
                      <a:cubicBezTo>
                        <a:pt x="12827" y="5380"/>
                        <a:pt x="13834" y="6387"/>
                        <a:pt x="13834" y="7625"/>
                      </a:cubicBezTo>
                      <a:cubicBezTo>
                        <a:pt x="13834" y="8863"/>
                        <a:pt x="12828" y="9870"/>
                        <a:pt x="11590" y="9870"/>
                      </a:cubicBezTo>
                      <a:lnTo>
                        <a:pt x="3197" y="9870"/>
                      </a:lnTo>
                      <a:cubicBezTo>
                        <a:pt x="1959" y="9870"/>
                        <a:pt x="952" y="8863"/>
                        <a:pt x="952" y="7625"/>
                      </a:cubicBezTo>
                      <a:cubicBezTo>
                        <a:pt x="952" y="6387"/>
                        <a:pt x="1959" y="5380"/>
                        <a:pt x="3197" y="5380"/>
                      </a:cubicBezTo>
                      <a:lnTo>
                        <a:pt x="3620" y="5380"/>
                      </a:lnTo>
                      <a:lnTo>
                        <a:pt x="3669" y="4959"/>
                      </a:lnTo>
                      <a:cubicBezTo>
                        <a:pt x="3892" y="3075"/>
                        <a:pt x="5492" y="1654"/>
                        <a:pt x="7393" y="1654"/>
                      </a:cubicBezTo>
                      <a:close/>
                      <a:moveTo>
                        <a:pt x="11933" y="1"/>
                      </a:moveTo>
                      <a:cubicBezTo>
                        <a:pt x="11808" y="1"/>
                        <a:pt x="11682" y="9"/>
                        <a:pt x="11557" y="26"/>
                      </a:cubicBezTo>
                      <a:lnTo>
                        <a:pt x="10742" y="134"/>
                      </a:lnTo>
                      <a:lnTo>
                        <a:pt x="11243" y="786"/>
                      </a:lnTo>
                      <a:cubicBezTo>
                        <a:pt x="11656" y="1326"/>
                        <a:pt x="11750" y="2048"/>
                        <a:pt x="11492" y="2673"/>
                      </a:cubicBezTo>
                      <a:cubicBezTo>
                        <a:pt x="11458" y="2754"/>
                        <a:pt x="11419" y="2831"/>
                        <a:pt x="11376" y="2904"/>
                      </a:cubicBezTo>
                      <a:cubicBezTo>
                        <a:pt x="10541" y="1573"/>
                        <a:pt x="9058" y="703"/>
                        <a:pt x="7393" y="703"/>
                      </a:cubicBezTo>
                      <a:cubicBezTo>
                        <a:pt x="5145" y="703"/>
                        <a:pt x="3232" y="2289"/>
                        <a:pt x="2787" y="4454"/>
                      </a:cubicBezTo>
                      <a:cubicBezTo>
                        <a:pt x="1217" y="4656"/>
                        <a:pt x="0" y="6000"/>
                        <a:pt x="0" y="7625"/>
                      </a:cubicBezTo>
                      <a:cubicBezTo>
                        <a:pt x="0" y="9248"/>
                        <a:pt x="1184" y="10554"/>
                        <a:pt x="2720" y="10785"/>
                      </a:cubicBezTo>
                      <a:lnTo>
                        <a:pt x="2720" y="12251"/>
                      </a:lnTo>
                      <a:lnTo>
                        <a:pt x="3673" y="12251"/>
                      </a:lnTo>
                      <a:lnTo>
                        <a:pt x="3673" y="10821"/>
                      </a:lnTo>
                      <a:lnTo>
                        <a:pt x="5519" y="10821"/>
                      </a:lnTo>
                      <a:lnTo>
                        <a:pt x="5519" y="15319"/>
                      </a:lnTo>
                      <a:lnTo>
                        <a:pt x="6470" y="15319"/>
                      </a:lnTo>
                      <a:lnTo>
                        <a:pt x="6470" y="10821"/>
                      </a:lnTo>
                      <a:lnTo>
                        <a:pt x="8317" y="10821"/>
                      </a:lnTo>
                      <a:lnTo>
                        <a:pt x="8317" y="12886"/>
                      </a:lnTo>
                      <a:lnTo>
                        <a:pt x="9268" y="12886"/>
                      </a:lnTo>
                      <a:lnTo>
                        <a:pt x="9268" y="10821"/>
                      </a:lnTo>
                      <a:lnTo>
                        <a:pt x="11114" y="10821"/>
                      </a:lnTo>
                      <a:lnTo>
                        <a:pt x="11114" y="15319"/>
                      </a:lnTo>
                      <a:lnTo>
                        <a:pt x="12067" y="15319"/>
                      </a:lnTo>
                      <a:lnTo>
                        <a:pt x="12067" y="10785"/>
                      </a:lnTo>
                      <a:cubicBezTo>
                        <a:pt x="13603" y="10554"/>
                        <a:pt x="14787" y="9225"/>
                        <a:pt x="14787" y="7625"/>
                      </a:cubicBezTo>
                      <a:cubicBezTo>
                        <a:pt x="14787" y="6631"/>
                        <a:pt x="14332" y="5744"/>
                        <a:pt x="13620" y="5158"/>
                      </a:cubicBezTo>
                      <a:cubicBezTo>
                        <a:pt x="14036" y="4853"/>
                        <a:pt x="14366" y="4437"/>
                        <a:pt x="14568" y="3949"/>
                      </a:cubicBezTo>
                      <a:cubicBezTo>
                        <a:pt x="14859" y="3244"/>
                        <a:pt x="14859" y="2468"/>
                        <a:pt x="14568" y="1763"/>
                      </a:cubicBezTo>
                      <a:cubicBezTo>
                        <a:pt x="14277" y="1059"/>
                        <a:pt x="13728" y="510"/>
                        <a:pt x="13024" y="219"/>
                      </a:cubicBezTo>
                      <a:cubicBezTo>
                        <a:pt x="12678" y="75"/>
                        <a:pt x="12306" y="1"/>
                        <a:pt x="119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35"/>
                <p:cNvSpPr/>
                <p:nvPr/>
              </p:nvSpPr>
              <p:spPr>
                <a:xfrm>
                  <a:off x="7840288" y="1739775"/>
                  <a:ext cx="23800" cy="4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" h="1897" extrusionOk="0">
                      <a:moveTo>
                        <a:pt x="0" y="1"/>
                      </a:moveTo>
                      <a:lnTo>
                        <a:pt x="0" y="1897"/>
                      </a:lnTo>
                      <a:lnTo>
                        <a:pt x="952" y="1897"/>
                      </a:lnTo>
                      <a:lnTo>
                        <a:pt x="95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98" name="Google Shape;298;p35"/>
              <p:cNvSpPr/>
              <p:nvPr/>
            </p:nvSpPr>
            <p:spPr>
              <a:xfrm>
                <a:off x="7985446" y="1905675"/>
                <a:ext cx="23800" cy="31550"/>
              </a:xfrm>
              <a:custGeom>
                <a:avLst/>
                <a:gdLst/>
                <a:ahLst/>
                <a:cxnLst/>
                <a:rect l="l" t="t" r="r" b="b"/>
                <a:pathLst>
                  <a:path w="952" h="1262" extrusionOk="0">
                    <a:moveTo>
                      <a:pt x="1" y="1"/>
                    </a:moveTo>
                    <a:lnTo>
                      <a:pt x="1" y="1261"/>
                    </a:lnTo>
                    <a:lnTo>
                      <a:pt x="952" y="1261"/>
                    </a:lnTo>
                    <a:lnTo>
                      <a:pt x="9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Weatherperson Digital Resume by Slidesgo">
  <a:themeElements>
    <a:clrScheme name="Simple Light">
      <a:dk1>
        <a:srgbClr val="212121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40C1345292F04684C08AADFAF2FE64" ma:contentTypeVersion="4" ma:contentTypeDescription="Create a new document." ma:contentTypeScope="" ma:versionID="3e2d6ce3ca8778e72aa65f301b88b506">
  <xsd:schema xmlns:xsd="http://www.w3.org/2001/XMLSchema" xmlns:xs="http://www.w3.org/2001/XMLSchema" xmlns:p="http://schemas.microsoft.com/office/2006/metadata/properties" xmlns:ns3="526a5cbe-1a72-4983-bf32-7dfb1c10bb4b" targetNamespace="http://schemas.microsoft.com/office/2006/metadata/properties" ma:root="true" ma:fieldsID="966c0d157aef54483ae688ad4c5a6cb5" ns3:_="">
    <xsd:import namespace="526a5cbe-1a72-4983-bf32-7dfb1c10bb4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6a5cbe-1a72-4983-bf32-7dfb1c10bb4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0A65FD-2BFF-4392-8977-CA11D7A6C0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FDF881-AE47-414E-8210-F336D28D09F9}">
  <ds:schemaRefs>
    <ds:schemaRef ds:uri="526a5cbe-1a72-4983-bf32-7dfb1c10bb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C254FA7-8449-4E63-BB96-DCE5543DEE7A}">
  <ds:schemaRefs>
    <ds:schemaRef ds:uri="http://schemas.microsoft.com/office/2006/metadata/properties"/>
    <ds:schemaRef ds:uri="526a5cbe-1a72-4983-bf32-7dfb1c10bb4b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</Words>
  <Application>Microsoft Office PowerPoint</Application>
  <PresentationFormat>On-screen Show (16:9)</PresentationFormat>
  <Paragraphs>237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Oswald</vt:lpstr>
      <vt:lpstr>Bahnschrift SemiBold</vt:lpstr>
      <vt:lpstr>Nunito Light</vt:lpstr>
      <vt:lpstr>Wingdings</vt:lpstr>
      <vt:lpstr>Anaheim</vt:lpstr>
      <vt:lpstr>Arial</vt:lpstr>
      <vt:lpstr>Barlow</vt:lpstr>
      <vt:lpstr>Bebas Neue</vt:lpstr>
      <vt:lpstr>Weatherperson Digital Resume by Slidesgo</vt:lpstr>
      <vt:lpstr>Article Review</vt:lpstr>
      <vt:lpstr>TABLE OF CONTENTS</vt:lpstr>
      <vt:lpstr>Introduction</vt:lpstr>
      <vt:lpstr>Introduction</vt:lpstr>
      <vt:lpstr>Introduction</vt:lpstr>
      <vt:lpstr>Introduction</vt:lpstr>
      <vt:lpstr>Introduction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Results</vt:lpstr>
      <vt:lpstr>Results</vt:lpstr>
      <vt:lpstr>Conclusion &amp; Observation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Rafsan Al Amin</cp:lastModifiedBy>
  <cp:revision>1</cp:revision>
  <dcterms:modified xsi:type="dcterms:W3CDTF">2025-12-04T00:30:43Z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0x0101003040C1345292F04684C08AADFAF2FE64</vt:lpwstr>
  </property>
</Properties>
</file>